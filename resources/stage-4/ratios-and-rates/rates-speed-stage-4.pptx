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  <p:sldId id="264" r:id="rId9"/>
    <p:sldId id="265" r:id="rId10"/>
    <p:sldId id="259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18"/>
  </p:normalViewPr>
  <p:slideViewPr>
    <p:cSldViewPr snapToGrid="0">
      <p:cViewPr varScale="1">
        <p:scale>
          <a:sx n="95" d="100"/>
          <a:sy n="95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6A666-6EFA-5F4C-8E41-21253FB238A7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57AD1-295D-6E4C-B961-FA1B71ADD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7fa3ca2c1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27fa3ca2c1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fa3ca2c1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27fa3ca2c1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fa3ca2c1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7fa3ca2c1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fa3ca2c1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27fa3ca2c1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fa3ca2c1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27fa3ca2c1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7fa3ca2c1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27fa3ca2c1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fa3ca2c1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27fa3ca2c1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fa3ca2c1d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7fa3ca2c1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7fa3ca2c1d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7fa3ca2c1d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7fa3ca2c1d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27fa3ca2c1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FB674-C25C-2C85-D421-40DDF5BD4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730BE-4F30-D2C5-8588-C6A05F807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2E9B4-AD29-1FF2-C0BD-74B8406F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94C44-7884-72C7-0CEC-DE93775CB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B0CC1-BCFB-352E-D515-ED43A30A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5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E0E0F-86A7-CB53-C512-F465F858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4CD92-FBE8-2408-D515-E6ECAFFCF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17C28-9BA7-2734-3BB7-BA73441F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413C9-781C-602B-2A84-063628721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421E9-D8F3-A03B-04BC-5F8F6B37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CBBC-283B-A87E-9643-22388B75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69BFB-4F81-3DDB-F3A2-7C39F5332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72F46-EEDD-2244-9973-4CC40A3D0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21E30-4BEA-43D6-51E8-F2A1C8FF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644D9-1AD4-E515-415E-3015233BB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6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B56-FDCB-39E0-0AA1-6398589D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1984A-9F14-0428-33AE-24D429030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850B6-0A73-290A-0B78-9C7846755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44FC1-B27E-54A5-EE3C-61CC50BC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11E2C-7861-58E2-ADC1-19ED4386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B101C-BFAB-6AF4-5029-C186D0EA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2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E404-F003-9636-4375-254B50AA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3B9A8-1D57-05EA-F1A4-4ADFB4E40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80255-D633-DBCE-7ABE-60086CC1C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91DDD-90C4-626E-435B-A992A5500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2BF985-9067-CCAC-B586-B0CD98CC2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E15BE-8DE9-5010-B14A-511821FA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47EA1-933D-BCC7-4BCB-1EE51B62D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A2A554-0C7F-37EE-8A01-54B306FE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9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F9E0-872E-7442-7B2C-0DC82511D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4534-1C25-DB17-C236-200B53EA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9B78D-3FFB-3F85-8544-D42A887B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6386E-62C0-95B8-DB1E-0A45E6BD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7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2C903-0FB7-0C97-4D15-1EE02C00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D9584-9388-913F-C559-702736C5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D3C48-5C5A-EE16-8805-55B2B8BF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9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FB99-61D5-B9A7-8A84-6C69A8E6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C9546-11EE-B034-08ED-9C6C2A296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F6F2C-8C5A-13C2-5A62-EA555AB33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861DB-1750-5EEF-249A-E5631D94D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6B84D-CF58-6A7D-A6D3-42BEB7069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647AC-2A5C-436A-10E5-2D550A68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2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AC45-ACA2-62A8-2C4B-D4457B7B1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5F08F7-3CB6-1197-8CF1-4D1A10F45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5C97E-E63B-0625-CD99-0AC1B5CFB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8B3A4-B16A-2932-28C2-D2EA2D17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8D91C-71E3-470D-64C7-5D089BCC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CDE8A-5783-8FCA-C887-4BDEAFB7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30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89F1-605B-0BC2-8412-56B67732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0B195-E5F8-0E7A-AD7F-417678768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D5497-6479-64EF-EB78-68C80690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33625-ABCF-94FE-81E8-E2E6A48B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6C62A-149D-E6DD-2DF0-ED30547C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11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76490-19B3-8BD2-28EA-09FB5AC81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8CD46-BBE7-20E7-180B-39B6AE6BF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C92E9-8F70-1212-68E7-D072217A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5C703-1BE1-97C7-F6C6-4C1A6F98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1A95E-0335-8A4D-BA52-0BE29F72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68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609585" lvl="0" indent="-423323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algn="l" rtl="0">
              <a:lnSpc>
                <a:spcPct val="120000"/>
              </a:lnSpc>
              <a:spcBef>
                <a:spcPts val="267"/>
              </a:spcBef>
              <a:spcAft>
                <a:spcPts val="0"/>
              </a:spcAft>
              <a:buClr>
                <a:srgbClr val="FEFEFE"/>
              </a:buClr>
              <a:buSzPts val="1400"/>
              <a:buChar char="○"/>
              <a:defRPr/>
            </a:lvl2pPr>
            <a:lvl3pPr marL="1828754" lvl="2" indent="-423323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400"/>
              <a:buChar char="■"/>
              <a:defRPr/>
            </a:lvl3pPr>
            <a:lvl4pPr marL="2438339" lvl="3" indent="-423323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400"/>
              <a:buChar char="●"/>
              <a:defRPr/>
            </a:lvl4pPr>
            <a:lvl5pPr marL="3047924" lvl="4" indent="-423323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4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218427" y="6446839"/>
            <a:ext cx="258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1097279" y="6446839"/>
            <a:ext cx="6818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10993583" y="6446839"/>
            <a:ext cx="78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29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C06F7-4BFC-2809-F18A-20A6894FC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B2CBA-54BF-EE08-595D-0EEE5946D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8911B-BD9C-DA65-5248-2ECFF6FE2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34672-5CC9-484F-A079-61932D85B4BC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4B443-3DD1-A79B-2407-DF07C8652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9966F-F558-7F6F-C5FB-CDA18CCCA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FD77C-0F41-6B46-A764-4BA985A11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4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8D220-910B-2EE1-F22E-D3530DF55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Rates with Year 8s</a:t>
            </a:r>
          </a:p>
        </p:txBody>
      </p:sp>
    </p:spTree>
    <p:extLst>
      <p:ext uri="{BB962C8B-B14F-4D97-AF65-F5344CB8AC3E}">
        <p14:creationId xmlns:p14="http://schemas.microsoft.com/office/powerpoint/2010/main" val="1204351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0AECE1-CD9D-866F-AA08-93D440AB5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78" y="121023"/>
            <a:ext cx="11834818" cy="626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09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3;p16">
            <a:extLst>
              <a:ext uri="{FF2B5EF4-FFF2-40B4-BE49-F238E27FC236}">
                <a16:creationId xmlns:a16="http://schemas.microsoft.com/office/drawing/2014/main" id="{778540FD-1262-B980-6225-AA48269238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225" y="365125"/>
            <a:ext cx="1128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4000" dirty="0"/>
              <a:t>Which is larger?</a:t>
            </a:r>
            <a:endParaRPr sz="4000" dirty="0"/>
          </a:p>
        </p:txBody>
      </p:sp>
      <p:sp>
        <p:nvSpPr>
          <p:cNvPr id="5" name="Google Shape;214;p16">
            <a:extLst>
              <a:ext uri="{FF2B5EF4-FFF2-40B4-BE49-F238E27FC236}">
                <a16:creationId xmlns:a16="http://schemas.microsoft.com/office/drawing/2014/main" id="{600E6A45-65B5-376D-763D-7AB498C88076}"/>
              </a:ext>
            </a:extLst>
          </p:cNvPr>
          <p:cNvSpPr txBox="1">
            <a:spLocks/>
          </p:cNvSpPr>
          <p:nvPr/>
        </p:nvSpPr>
        <p:spPr>
          <a:xfrm>
            <a:off x="454225" y="1056400"/>
            <a:ext cx="1128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400"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Or, are they the same?</a:t>
            </a:r>
            <a:endParaRPr lang="en-GB" sz="2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15;p16">
            <a:extLst>
              <a:ext uri="{FF2B5EF4-FFF2-40B4-BE49-F238E27FC236}">
                <a16:creationId xmlns:a16="http://schemas.microsoft.com/office/drawing/2014/main" id="{72C8AA8B-2D69-B8D5-B46B-5711E6AA147B}"/>
              </a:ext>
            </a:extLst>
          </p:cNvPr>
          <p:cNvSpPr txBox="1">
            <a:spLocks/>
          </p:cNvSpPr>
          <p:nvPr/>
        </p:nvSpPr>
        <p:spPr>
          <a:xfrm>
            <a:off x="454200" y="3223350"/>
            <a:ext cx="1128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400"/>
            </a:pPr>
            <a:r>
              <a:rPr lang="en-GB" sz="4000"/>
              <a:t>OR</a:t>
            </a:r>
          </a:p>
        </p:txBody>
      </p:sp>
      <p:pic>
        <p:nvPicPr>
          <p:cNvPr id="8" name="Google Shape;217;p16">
            <a:extLst>
              <a:ext uri="{FF2B5EF4-FFF2-40B4-BE49-F238E27FC236}">
                <a16:creationId xmlns:a16="http://schemas.microsoft.com/office/drawing/2014/main" id="{06F22103-8CA4-100D-51A6-7FE099EDC5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02825" y="2535624"/>
            <a:ext cx="3996671" cy="26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6;p16">
            <a:extLst>
              <a:ext uri="{FF2B5EF4-FFF2-40B4-BE49-F238E27FC236}">
                <a16:creationId xmlns:a16="http://schemas.microsoft.com/office/drawing/2014/main" id="{49927CEF-CACE-0DAA-90DB-F125C349F5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275" y="2686900"/>
            <a:ext cx="4973901" cy="1796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48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3;p16">
            <a:extLst>
              <a:ext uri="{FF2B5EF4-FFF2-40B4-BE49-F238E27FC236}">
                <a16:creationId xmlns:a16="http://schemas.microsoft.com/office/drawing/2014/main" id="{BA77950C-9B20-A577-481F-8DE2952153EE}"/>
              </a:ext>
            </a:extLst>
          </p:cNvPr>
          <p:cNvSpPr txBox="1">
            <a:spLocks/>
          </p:cNvSpPr>
          <p:nvPr/>
        </p:nvSpPr>
        <p:spPr>
          <a:xfrm>
            <a:off x="1067528" y="393550"/>
            <a:ext cx="100569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400"/>
            </a:pPr>
            <a:r>
              <a:rPr lang="en-GB" sz="4000" dirty="0"/>
              <a:t>Which is larger?</a:t>
            </a:r>
          </a:p>
        </p:txBody>
      </p:sp>
      <p:sp>
        <p:nvSpPr>
          <p:cNvPr id="5" name="Google Shape;214;p16">
            <a:extLst>
              <a:ext uri="{FF2B5EF4-FFF2-40B4-BE49-F238E27FC236}">
                <a16:creationId xmlns:a16="http://schemas.microsoft.com/office/drawing/2014/main" id="{B83D1113-DED6-51CF-03E5-56E436040326}"/>
              </a:ext>
            </a:extLst>
          </p:cNvPr>
          <p:cNvSpPr txBox="1">
            <a:spLocks/>
          </p:cNvSpPr>
          <p:nvPr/>
        </p:nvSpPr>
        <p:spPr>
          <a:xfrm>
            <a:off x="454225" y="1056400"/>
            <a:ext cx="1128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400"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Or, are they the same?</a:t>
            </a:r>
            <a:endParaRPr lang="en-GB" sz="28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C51783-BB6A-0B8B-FA3B-ABF4A375E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2676836"/>
            <a:ext cx="7772400" cy="305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8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1F41E-95DA-4833-57E9-4650C7B8E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3;p16">
            <a:extLst>
              <a:ext uri="{FF2B5EF4-FFF2-40B4-BE49-F238E27FC236}">
                <a16:creationId xmlns:a16="http://schemas.microsoft.com/office/drawing/2014/main" id="{D099E04C-2426-FC67-EB92-F99A575DC8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225" y="365125"/>
            <a:ext cx="1128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4000" dirty="0"/>
              <a:t>Which is larger?</a:t>
            </a:r>
            <a:endParaRPr sz="4000" dirty="0"/>
          </a:p>
        </p:txBody>
      </p:sp>
      <p:sp>
        <p:nvSpPr>
          <p:cNvPr id="5" name="Google Shape;214;p16">
            <a:extLst>
              <a:ext uri="{FF2B5EF4-FFF2-40B4-BE49-F238E27FC236}">
                <a16:creationId xmlns:a16="http://schemas.microsoft.com/office/drawing/2014/main" id="{AFB10920-5598-7958-4ADF-A3A818BE4943}"/>
              </a:ext>
            </a:extLst>
          </p:cNvPr>
          <p:cNvSpPr txBox="1">
            <a:spLocks/>
          </p:cNvSpPr>
          <p:nvPr/>
        </p:nvSpPr>
        <p:spPr>
          <a:xfrm>
            <a:off x="454225" y="1056400"/>
            <a:ext cx="1128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400"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Or, are they the same?</a:t>
            </a:r>
            <a:endParaRPr lang="en-GB" sz="28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7A460B-D871-C29E-9755-EA726405D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75" y="1719250"/>
            <a:ext cx="5884949" cy="43953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E5D6DC-63FA-76F8-4D08-D45D5CB22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40170"/>
            <a:ext cx="5360027" cy="28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6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2C97E-9A8C-F723-13AC-070487B8F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00+ Road Backgrounds [4K] | Download Free Images On Unsplash">
            <a:extLst>
              <a:ext uri="{FF2B5EF4-FFF2-40B4-BE49-F238E27FC236}">
                <a16:creationId xmlns:a16="http://schemas.microsoft.com/office/drawing/2014/main" id="{D9F58B9E-CC2E-12FF-EE23-4F4379DFE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07611"/>
            <a:ext cx="12355605" cy="823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EB55ED-CC30-8151-3000-1B2C2ADBA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667951">
            <a:off x="909759" y="3796806"/>
            <a:ext cx="3948055" cy="21099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7E0127-EED3-0D44-CC7F-3457307B72F6}"/>
              </a:ext>
            </a:extLst>
          </p:cNvPr>
          <p:cNvSpPr txBox="1"/>
          <p:nvPr/>
        </p:nvSpPr>
        <p:spPr>
          <a:xfrm>
            <a:off x="403575" y="357792"/>
            <a:ext cx="822597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/>
              <a:t>The top speed of a Hayabusa is 300 km/</a:t>
            </a:r>
            <a:r>
              <a:rPr lang="en-US" sz="3500" dirty="0" err="1"/>
              <a:t>hr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383138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E6E9D-4DA4-F25D-8992-EB28AE7A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00+ Road Backgrounds [4K] | Download Free Images On Unsplash">
            <a:extLst>
              <a:ext uri="{FF2B5EF4-FFF2-40B4-BE49-F238E27FC236}">
                <a16:creationId xmlns:a16="http://schemas.microsoft.com/office/drawing/2014/main" id="{23374901-1B20-982C-3CF5-D39C286B1A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90752"/>
            <a:ext cx="12355605" cy="823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1D6302-DFC9-815C-415D-0C56351B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54" y="1994902"/>
            <a:ext cx="2054394" cy="1097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866447-7779-D643-5C30-789608B5E688}"/>
              </a:ext>
            </a:extLst>
          </p:cNvPr>
          <p:cNvSpPr txBox="1"/>
          <p:nvPr/>
        </p:nvSpPr>
        <p:spPr>
          <a:xfrm>
            <a:off x="403575" y="357792"/>
            <a:ext cx="822597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/>
              <a:t>The top speed of a Hayabusa is 300 km/h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D545A1-7B46-162B-31AC-0306FDED512F}"/>
              </a:ext>
            </a:extLst>
          </p:cNvPr>
          <p:cNvSpPr txBox="1"/>
          <p:nvPr/>
        </p:nvSpPr>
        <p:spPr>
          <a:xfrm>
            <a:off x="4441480" y="1575668"/>
            <a:ext cx="3939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does this mean?!?</a:t>
            </a:r>
          </a:p>
        </p:txBody>
      </p:sp>
    </p:spTree>
    <p:extLst>
      <p:ext uri="{BB962C8B-B14F-4D97-AF65-F5344CB8AC3E}">
        <p14:creationId xmlns:p14="http://schemas.microsoft.com/office/powerpoint/2010/main" val="1298655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5172075" y="286603"/>
            <a:ext cx="59836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rgbClr val="3F3F3F"/>
              </a:buClr>
              <a:buSzPts val="4100"/>
            </a:pPr>
            <a:r>
              <a:rPr lang="en-GB"/>
              <a:t>Question 1	</a:t>
            </a:r>
            <a:endParaRPr/>
          </a:p>
        </p:txBody>
      </p:sp>
      <p:pic>
        <p:nvPicPr>
          <p:cNvPr id="78" name="Google Shape;78;p16" descr="Why Is &quot;Airplane&quot; Also Spelled “Aeroplane&quot;? The History of These Words"/>
          <p:cNvPicPr preferRelativeResize="0"/>
          <p:nvPr/>
        </p:nvPicPr>
        <p:blipFill rotWithShape="1">
          <a:blip r:embed="rId3">
            <a:alphaModFix/>
          </a:blip>
          <a:srcRect l="26436" r="25801"/>
          <a:stretch/>
        </p:blipFill>
        <p:spPr>
          <a:xfrm>
            <a:off x="21" y="11"/>
            <a:ext cx="4580076" cy="6400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16"/>
          <p:cNvCxnSpPr/>
          <p:nvPr/>
        </p:nvCxnSpPr>
        <p:spPr>
          <a:xfrm>
            <a:off x="5242903" y="1917852"/>
            <a:ext cx="59436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5172075" y="2108201"/>
            <a:ext cx="59836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/>
          </a:bodyPr>
          <a:lstStyle/>
          <a:p>
            <a:pPr marL="846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/>
              <a:t>An aeroplane travels at 800 km per hour. </a:t>
            </a: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SzPts val="1400"/>
              <a:buNone/>
            </a:pP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None/>
            </a:pPr>
            <a:r>
              <a:rPr lang="en-GB"/>
              <a:t>What other information can you find?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5172075" y="286603"/>
            <a:ext cx="59836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rgbClr val="3F3F3F"/>
              </a:buClr>
              <a:buSzPts val="4100"/>
            </a:pPr>
            <a:r>
              <a:rPr lang="en-GB"/>
              <a:t>Question 1	</a:t>
            </a:r>
            <a:endParaRPr/>
          </a:p>
        </p:txBody>
      </p:sp>
      <p:pic>
        <p:nvPicPr>
          <p:cNvPr id="88" name="Google Shape;88;p17" descr="Why Is &quot;Airplane&quot; Also Spelled “Aeroplane&quot;? The History of These Words"/>
          <p:cNvPicPr preferRelativeResize="0"/>
          <p:nvPr/>
        </p:nvPicPr>
        <p:blipFill rotWithShape="1">
          <a:blip r:embed="rId3">
            <a:alphaModFix/>
          </a:blip>
          <a:srcRect l="26436" r="25801"/>
          <a:stretch/>
        </p:blipFill>
        <p:spPr>
          <a:xfrm>
            <a:off x="21" y="11"/>
            <a:ext cx="4580076" cy="6400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7"/>
          <p:cNvCxnSpPr/>
          <p:nvPr/>
        </p:nvCxnSpPr>
        <p:spPr>
          <a:xfrm>
            <a:off x="5242903" y="1917852"/>
            <a:ext cx="59436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5172075" y="2108201"/>
            <a:ext cx="59836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/>
          </a:bodyPr>
          <a:lstStyle/>
          <a:p>
            <a:pPr marL="846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/>
              <a:t>An aeroplane travels at 800 km per hour. </a:t>
            </a: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SzPts val="1400"/>
              <a:buNone/>
            </a:pP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None/>
            </a:pPr>
            <a:r>
              <a:rPr lang="en-GB"/>
              <a:t>How far has it travelled after 4 hours and 30 minutes?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15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1097280" y="516835"/>
            <a:ext cx="5978000" cy="166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buClr>
                <a:srgbClr val="FFFFFF"/>
              </a:buClr>
              <a:buSzPts val="3000"/>
            </a:pPr>
            <a:r>
              <a:rPr lang="en-GB" sz="4000">
                <a:solidFill>
                  <a:srgbClr val="FFFFFF"/>
                </a:solidFill>
              </a:rPr>
              <a:t>Question 2	</a:t>
            </a:r>
            <a:endParaRPr/>
          </a:p>
        </p:txBody>
      </p:sp>
      <p:cxnSp>
        <p:nvCxnSpPr>
          <p:cNvPr id="98" name="Google Shape;98;p18"/>
          <p:cNvCxnSpPr/>
          <p:nvPr/>
        </p:nvCxnSpPr>
        <p:spPr>
          <a:xfrm>
            <a:off x="1215896" y="2353592"/>
            <a:ext cx="53036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1097279" y="2546224"/>
            <a:ext cx="5978000" cy="3342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/>
          </a:bodyPr>
          <a:lstStyle/>
          <a:p>
            <a:pPr marL="84665" indent="0">
              <a:spcBef>
                <a:spcPts val="0"/>
              </a:spcBef>
              <a:buNone/>
            </a:pPr>
            <a:r>
              <a:rPr lang="en-GB">
                <a:solidFill>
                  <a:srgbClr val="FFFFFF"/>
                </a:solidFill>
              </a:rPr>
              <a:t>A train travels 600km in four hours</a:t>
            </a:r>
            <a:endParaRPr/>
          </a:p>
          <a:p>
            <a:pPr marL="84665" indent="0">
              <a:spcBef>
                <a:spcPts val="1467"/>
              </a:spcBef>
              <a:buNone/>
            </a:pPr>
            <a:endParaRPr>
              <a:solidFill>
                <a:srgbClr val="FFFFFF"/>
              </a:solidFill>
            </a:endParaRPr>
          </a:p>
          <a:p>
            <a:pPr marL="84665" indent="0">
              <a:spcBef>
                <a:spcPts val="1467"/>
              </a:spcBef>
              <a:buNone/>
            </a:pPr>
            <a:r>
              <a:rPr lang="en-GB">
                <a:solidFill>
                  <a:srgbClr val="FFFFFF"/>
                </a:solidFill>
              </a:rPr>
              <a:t>What other information can you work out?</a:t>
            </a:r>
            <a:endParaRPr/>
          </a:p>
        </p:txBody>
      </p:sp>
      <p:pic>
        <p:nvPicPr>
          <p:cNvPr id="100" name="Google Shape;100;p18" descr="A railroad extending through the desert"/>
          <p:cNvPicPr preferRelativeResize="0"/>
          <p:nvPr/>
        </p:nvPicPr>
        <p:blipFill rotWithShape="1">
          <a:blip r:embed="rId3">
            <a:alphaModFix/>
          </a:blip>
          <a:srcRect l="1745" r="14776"/>
          <a:stretch/>
        </p:blipFill>
        <p:spPr>
          <a:xfrm>
            <a:off x="7611902" y="11"/>
            <a:ext cx="4580100" cy="6857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15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1097280" y="516835"/>
            <a:ext cx="5978000" cy="166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buClr>
                <a:srgbClr val="FFFFFF"/>
              </a:buClr>
              <a:buSzPts val="3000"/>
            </a:pPr>
            <a:r>
              <a:rPr lang="en-GB" sz="4000">
                <a:solidFill>
                  <a:srgbClr val="FFFFFF"/>
                </a:solidFill>
              </a:rPr>
              <a:t>Question 2	</a:t>
            </a:r>
            <a:endParaRPr/>
          </a:p>
        </p:txBody>
      </p:sp>
      <p:cxnSp>
        <p:nvCxnSpPr>
          <p:cNvPr id="107" name="Google Shape;107;p19"/>
          <p:cNvCxnSpPr/>
          <p:nvPr/>
        </p:nvCxnSpPr>
        <p:spPr>
          <a:xfrm>
            <a:off x="1215896" y="2353592"/>
            <a:ext cx="53036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1097279" y="2546224"/>
            <a:ext cx="5978000" cy="3342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/>
          </a:bodyPr>
          <a:lstStyle/>
          <a:p>
            <a:pPr marL="84665" indent="0">
              <a:spcBef>
                <a:spcPts val="0"/>
              </a:spcBef>
              <a:buNone/>
            </a:pPr>
            <a:r>
              <a:rPr lang="en-GB">
                <a:solidFill>
                  <a:srgbClr val="FFFFFF"/>
                </a:solidFill>
              </a:rPr>
              <a:t>A train travels 600km in four hours</a:t>
            </a:r>
            <a:endParaRPr/>
          </a:p>
          <a:p>
            <a:pPr marL="84665" indent="0">
              <a:spcBef>
                <a:spcPts val="1467"/>
              </a:spcBef>
              <a:buNone/>
            </a:pPr>
            <a:endParaRPr>
              <a:solidFill>
                <a:srgbClr val="FFFFFF"/>
              </a:solidFill>
            </a:endParaRPr>
          </a:p>
          <a:p>
            <a:pPr marL="84665" indent="0">
              <a:spcBef>
                <a:spcPts val="1467"/>
              </a:spcBef>
              <a:buNone/>
            </a:pPr>
            <a:r>
              <a:rPr lang="en-GB">
                <a:solidFill>
                  <a:srgbClr val="FFFFFF"/>
                </a:solidFill>
              </a:rPr>
              <a:t>How far has it travelled after 1 hour and 15 minutes?</a:t>
            </a:r>
            <a:endParaRPr/>
          </a:p>
        </p:txBody>
      </p:sp>
      <p:pic>
        <p:nvPicPr>
          <p:cNvPr id="109" name="Google Shape;109;p19" descr="A railroad extending through the desert"/>
          <p:cNvPicPr preferRelativeResize="0"/>
          <p:nvPr/>
        </p:nvPicPr>
        <p:blipFill rotWithShape="1">
          <a:blip r:embed="rId3">
            <a:alphaModFix/>
          </a:blip>
          <a:srcRect l="1745" r="14776"/>
          <a:stretch/>
        </p:blipFill>
        <p:spPr>
          <a:xfrm>
            <a:off x="7611902" y="11"/>
            <a:ext cx="4580100" cy="6857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642257" y="634947"/>
            <a:ext cx="3690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rgbClr val="3F3F3F"/>
              </a:buClr>
              <a:buSzPts val="3500"/>
            </a:pPr>
            <a:r>
              <a:rPr lang="en-GB" sz="4667"/>
              <a:t>Question 4	</a:t>
            </a:r>
            <a:endParaRPr/>
          </a:p>
        </p:txBody>
      </p:sp>
      <p:cxnSp>
        <p:nvCxnSpPr>
          <p:cNvPr id="116" name="Google Shape;116;p20"/>
          <p:cNvCxnSpPr/>
          <p:nvPr/>
        </p:nvCxnSpPr>
        <p:spPr>
          <a:xfrm>
            <a:off x="720797" y="2250460"/>
            <a:ext cx="34748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642257" y="2407436"/>
            <a:ext cx="3690400" cy="346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 lnSpcReduction="10000"/>
          </a:bodyPr>
          <a:lstStyle/>
          <a:p>
            <a:pPr marL="846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/>
              <a:t>A car is travelling at an average speed of 80km/hr</a:t>
            </a: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SzPts val="1400"/>
              <a:buNone/>
            </a:pP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None/>
            </a:pPr>
            <a:r>
              <a:rPr lang="en-GB"/>
              <a:t>What information can you work out?</a:t>
            </a: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SzPts val="1400"/>
              <a:buNone/>
            </a:pP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l="23553" r="22490"/>
          <a:stretch/>
        </p:blipFill>
        <p:spPr>
          <a:xfrm>
            <a:off x="4648201" y="640082"/>
            <a:ext cx="6909803" cy="531440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/>
          <p:nvPr/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642257" y="634947"/>
            <a:ext cx="3690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rgbClr val="3F3F3F"/>
              </a:buClr>
              <a:buSzPts val="3500"/>
            </a:pPr>
            <a:r>
              <a:rPr lang="en-GB" sz="4667"/>
              <a:t>Question 4	</a:t>
            </a:r>
            <a:endParaRPr/>
          </a:p>
        </p:txBody>
      </p:sp>
      <p:cxnSp>
        <p:nvCxnSpPr>
          <p:cNvPr id="126" name="Google Shape;126;p21"/>
          <p:cNvCxnSpPr/>
          <p:nvPr/>
        </p:nvCxnSpPr>
        <p:spPr>
          <a:xfrm>
            <a:off x="720797" y="2250460"/>
            <a:ext cx="34748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21"/>
          <p:cNvSpPr txBox="1">
            <a:spLocks noGrp="1"/>
          </p:cNvSpPr>
          <p:nvPr>
            <p:ph type="body" idx="1"/>
          </p:nvPr>
        </p:nvSpPr>
        <p:spPr>
          <a:xfrm>
            <a:off x="642257" y="2407436"/>
            <a:ext cx="3690400" cy="346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 fontScale="92500" lnSpcReduction="20000"/>
          </a:bodyPr>
          <a:lstStyle/>
          <a:p>
            <a:pPr marL="846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/>
              <a:t>A car is travelling at an average speed of 80km/hr</a:t>
            </a: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SzPts val="1400"/>
              <a:buNone/>
            </a:pP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None/>
            </a:pPr>
            <a:r>
              <a:rPr lang="en-GB"/>
              <a:t>How long will it take for the car to travel 240 kilometres?</a:t>
            </a:r>
            <a:endParaRPr/>
          </a:p>
          <a:p>
            <a:pPr marL="84665" indent="0">
              <a:lnSpc>
                <a:spcPct val="120000"/>
              </a:lnSpc>
              <a:spcBef>
                <a:spcPts val="1467"/>
              </a:spcBef>
              <a:buSzPts val="1400"/>
              <a:buNone/>
            </a:pP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l="23553" r="22490"/>
          <a:stretch/>
        </p:blipFill>
        <p:spPr>
          <a:xfrm>
            <a:off x="4648201" y="640082"/>
            <a:ext cx="6909803" cy="531440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/>
          <p:nvPr/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xfrm>
            <a:off x="5172075" y="286603"/>
            <a:ext cx="59836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rgbClr val="3F3F3F"/>
              </a:buClr>
              <a:buSzPts val="4100"/>
            </a:pPr>
            <a:r>
              <a:rPr lang="en-GB"/>
              <a:t>Question 5	</a:t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l="26323" r="39330"/>
          <a:stretch/>
        </p:blipFill>
        <p:spPr>
          <a:xfrm>
            <a:off x="20" y="11"/>
            <a:ext cx="4580075" cy="64007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22"/>
          <p:cNvCxnSpPr/>
          <p:nvPr/>
        </p:nvCxnSpPr>
        <p:spPr>
          <a:xfrm>
            <a:off x="5242903" y="1917852"/>
            <a:ext cx="59436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22"/>
          <p:cNvSpPr txBox="1">
            <a:spLocks noGrp="1"/>
          </p:cNvSpPr>
          <p:nvPr>
            <p:ph type="body" idx="1"/>
          </p:nvPr>
        </p:nvSpPr>
        <p:spPr>
          <a:xfrm>
            <a:off x="5172075" y="2108201"/>
            <a:ext cx="59836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/>
          </a:bodyPr>
          <a:lstStyle/>
          <a:p>
            <a:pPr marL="846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A Ferry travelling at 30km/hour leaves a port at 6:00 pm</a:t>
            </a:r>
          </a:p>
          <a:p>
            <a:pPr marL="84665" indent="0">
              <a:lnSpc>
                <a:spcPct val="120000"/>
              </a:lnSpc>
              <a:spcBef>
                <a:spcPts val="0"/>
              </a:spcBef>
              <a:buNone/>
            </a:pPr>
            <a:endParaRPr dirty="0"/>
          </a:p>
          <a:p>
            <a:pPr marL="84665" indent="0">
              <a:lnSpc>
                <a:spcPct val="120000"/>
              </a:lnSpc>
              <a:spcBef>
                <a:spcPts val="1467"/>
              </a:spcBef>
              <a:buNone/>
            </a:pPr>
            <a:r>
              <a:rPr lang="en-GB" dirty="0"/>
              <a:t>What information can you work out?</a:t>
            </a:r>
            <a:endParaRPr dirty="0"/>
          </a:p>
          <a:p>
            <a:pPr marL="84665" indent="0">
              <a:lnSpc>
                <a:spcPct val="120000"/>
              </a:lnSpc>
              <a:spcBef>
                <a:spcPts val="1467"/>
              </a:spcBef>
              <a:buSzPts val="1400"/>
              <a:buNone/>
            </a:pPr>
            <a:endParaRPr dirty="0"/>
          </a:p>
        </p:txBody>
      </p:sp>
      <p:sp>
        <p:nvSpPr>
          <p:cNvPr id="139" name="Google Shape;139;p22"/>
          <p:cNvSpPr/>
          <p:nvPr/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5172075" y="286603"/>
            <a:ext cx="59836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rgbClr val="3F3F3F"/>
              </a:buClr>
              <a:buSzPts val="4100"/>
            </a:pPr>
            <a:r>
              <a:rPr lang="en-GB"/>
              <a:t>Question 5	</a:t>
            </a: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3">
            <a:alphaModFix/>
          </a:blip>
          <a:srcRect l="26323" r="39330"/>
          <a:stretch/>
        </p:blipFill>
        <p:spPr>
          <a:xfrm>
            <a:off x="20" y="11"/>
            <a:ext cx="4580075" cy="64007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3"/>
          <p:cNvCxnSpPr/>
          <p:nvPr/>
        </p:nvCxnSpPr>
        <p:spPr>
          <a:xfrm>
            <a:off x="5242903" y="1917852"/>
            <a:ext cx="59436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23"/>
          <p:cNvSpPr txBox="1">
            <a:spLocks noGrp="1"/>
          </p:cNvSpPr>
          <p:nvPr>
            <p:ph type="body" idx="1"/>
          </p:nvPr>
        </p:nvSpPr>
        <p:spPr>
          <a:xfrm>
            <a:off x="5172075" y="2108201"/>
            <a:ext cx="59836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/>
          </a:bodyPr>
          <a:lstStyle/>
          <a:p>
            <a:pPr marL="8466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/>
              <a:t>A Ferry travelling at 30km/hour leaves a port at 6:00 pm</a:t>
            </a:r>
            <a:endParaRPr dirty="0"/>
          </a:p>
          <a:p>
            <a:pPr marL="84665" indent="0">
              <a:lnSpc>
                <a:spcPct val="120000"/>
              </a:lnSpc>
              <a:spcBef>
                <a:spcPts val="1467"/>
              </a:spcBef>
              <a:buSzPts val="1400"/>
              <a:buNone/>
            </a:pPr>
            <a:endParaRPr dirty="0"/>
          </a:p>
          <a:p>
            <a:pPr marL="84665" indent="0">
              <a:lnSpc>
                <a:spcPct val="120000"/>
              </a:lnSpc>
              <a:spcBef>
                <a:spcPts val="1467"/>
              </a:spcBef>
              <a:buNone/>
            </a:pPr>
            <a:r>
              <a:rPr lang="en-AU" dirty="0"/>
              <a:t>How far has it travelled when it is 10:30pm?</a:t>
            </a:r>
            <a:endParaRPr dirty="0"/>
          </a:p>
          <a:p>
            <a:pPr marL="84665" indent="0">
              <a:lnSpc>
                <a:spcPct val="120000"/>
              </a:lnSpc>
              <a:spcBef>
                <a:spcPts val="1467"/>
              </a:spcBef>
              <a:buSzPts val="1400"/>
              <a:buNone/>
            </a:pPr>
            <a:endParaRPr dirty="0"/>
          </a:p>
        </p:txBody>
      </p:sp>
      <p:sp>
        <p:nvSpPr>
          <p:cNvPr id="149" name="Google Shape;149;p23"/>
          <p:cNvSpPr/>
          <p:nvPr/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/>
          <p:nvPr/>
        </p:nvSpPr>
        <p:spPr>
          <a:xfrm>
            <a:off x="15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643467" y="516835"/>
            <a:ext cx="3448400" cy="166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buClr>
                <a:srgbClr val="FFFFFF"/>
              </a:buClr>
              <a:buSzPts val="3000"/>
            </a:pPr>
            <a:r>
              <a:rPr lang="en-GB" sz="4000">
                <a:solidFill>
                  <a:srgbClr val="FFFFFF"/>
                </a:solidFill>
              </a:rPr>
              <a:t>Question 6	</a:t>
            </a:r>
            <a:endParaRPr/>
          </a:p>
        </p:txBody>
      </p:sp>
      <p:cxnSp>
        <p:nvCxnSpPr>
          <p:cNvPr id="156" name="Google Shape;156;p24"/>
          <p:cNvCxnSpPr/>
          <p:nvPr/>
        </p:nvCxnSpPr>
        <p:spPr>
          <a:xfrm>
            <a:off x="723687" y="2353592"/>
            <a:ext cx="3292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643467" y="2546224"/>
            <a:ext cx="3448400" cy="3342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 lnSpcReduction="10000"/>
          </a:bodyPr>
          <a:lstStyle/>
          <a:p>
            <a:pPr marL="84665" indent="0">
              <a:spcBef>
                <a:spcPts val="0"/>
              </a:spcBef>
              <a:buNone/>
            </a:pPr>
            <a:r>
              <a:rPr lang="en-GB" dirty="0">
                <a:solidFill>
                  <a:srgbClr val="FFFFFF"/>
                </a:solidFill>
              </a:rPr>
              <a:t>A horse can at an average speed of 60km/hour. </a:t>
            </a:r>
            <a:endParaRPr dirty="0"/>
          </a:p>
          <a:p>
            <a:pPr marL="84665" indent="0">
              <a:spcBef>
                <a:spcPts val="1467"/>
              </a:spcBef>
              <a:buNone/>
            </a:pPr>
            <a:endParaRPr dirty="0">
              <a:solidFill>
                <a:srgbClr val="FFFFFF"/>
              </a:solidFill>
            </a:endParaRPr>
          </a:p>
          <a:p>
            <a:pPr marL="84665" indent="0">
              <a:spcBef>
                <a:spcPts val="1467"/>
              </a:spcBef>
              <a:buNone/>
            </a:pPr>
            <a:r>
              <a:rPr lang="en-GB" dirty="0">
                <a:solidFill>
                  <a:srgbClr val="FFFFFF"/>
                </a:solidFill>
              </a:rPr>
              <a:t>What information can you work out?</a:t>
            </a:r>
            <a:endParaRPr dirty="0"/>
          </a:p>
          <a:p>
            <a:pPr marL="84665" indent="0">
              <a:spcBef>
                <a:spcPts val="1467"/>
              </a:spcBef>
              <a:buNone/>
            </a:pPr>
            <a:endParaRPr dirty="0">
              <a:solidFill>
                <a:srgbClr val="FFFFFF"/>
              </a:solidFill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 l="21639" r="15712"/>
          <a:stretch/>
        </p:blipFill>
        <p:spPr>
          <a:xfrm>
            <a:off x="4654297" y="11"/>
            <a:ext cx="7537705" cy="6857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15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643467" y="516835"/>
            <a:ext cx="3448400" cy="166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buClr>
                <a:srgbClr val="FFFFFF"/>
              </a:buClr>
              <a:buSzPts val="3000"/>
            </a:pPr>
            <a:r>
              <a:rPr lang="en-GB" sz="4000">
                <a:solidFill>
                  <a:srgbClr val="FFFFFF"/>
                </a:solidFill>
              </a:rPr>
              <a:t>Question 6	</a:t>
            </a:r>
            <a:endParaRPr/>
          </a:p>
        </p:txBody>
      </p:sp>
      <p:cxnSp>
        <p:nvCxnSpPr>
          <p:cNvPr id="165" name="Google Shape;165;p25"/>
          <p:cNvCxnSpPr/>
          <p:nvPr/>
        </p:nvCxnSpPr>
        <p:spPr>
          <a:xfrm>
            <a:off x="723687" y="2353592"/>
            <a:ext cx="3292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25"/>
          <p:cNvSpPr txBox="1">
            <a:spLocks noGrp="1"/>
          </p:cNvSpPr>
          <p:nvPr>
            <p:ph type="body" idx="1"/>
          </p:nvPr>
        </p:nvSpPr>
        <p:spPr>
          <a:xfrm>
            <a:off x="643467" y="2546224"/>
            <a:ext cx="3448400" cy="3342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45700" rtlCol="0" anchor="t" anchorCtr="0">
            <a:normAutofit fontScale="92500" lnSpcReduction="20000"/>
          </a:bodyPr>
          <a:lstStyle/>
          <a:p>
            <a:pPr marL="84665" indent="0">
              <a:spcBef>
                <a:spcPts val="0"/>
              </a:spcBef>
              <a:buNone/>
            </a:pPr>
            <a:r>
              <a:rPr lang="en-GB" dirty="0">
                <a:solidFill>
                  <a:srgbClr val="FFFFFF"/>
                </a:solidFill>
              </a:rPr>
              <a:t>A horse can run at an average speed of 60km/hour. </a:t>
            </a:r>
            <a:endParaRPr dirty="0"/>
          </a:p>
          <a:p>
            <a:pPr marL="84665" indent="0">
              <a:spcBef>
                <a:spcPts val="1467"/>
              </a:spcBef>
              <a:buSzPct val="77778"/>
              <a:buNone/>
            </a:pPr>
            <a:endParaRPr dirty="0">
              <a:solidFill>
                <a:srgbClr val="FFFFFF"/>
              </a:solidFill>
            </a:endParaRPr>
          </a:p>
          <a:p>
            <a:pPr marL="84665" indent="0">
              <a:spcBef>
                <a:spcPts val="1467"/>
              </a:spcBef>
              <a:buNone/>
            </a:pPr>
            <a:r>
              <a:rPr lang="en-GB" dirty="0">
                <a:solidFill>
                  <a:srgbClr val="FFFFFF"/>
                </a:solidFill>
              </a:rPr>
              <a:t>How long will it take for the horse to complete </a:t>
            </a:r>
            <a:r>
              <a:rPr lang="en-AU" dirty="0">
                <a:solidFill>
                  <a:srgbClr val="FFFFFF"/>
                </a:solidFill>
              </a:rPr>
              <a:t>a 3km race?</a:t>
            </a:r>
            <a:endParaRPr dirty="0"/>
          </a:p>
          <a:p>
            <a:pPr marL="84665" indent="0">
              <a:spcBef>
                <a:spcPts val="1467"/>
              </a:spcBef>
              <a:buSzPct val="77778"/>
              <a:buNone/>
            </a:pPr>
            <a:endParaRPr dirty="0">
              <a:solidFill>
                <a:srgbClr val="FFFFFF"/>
              </a:solidFill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l="21639" r="15712"/>
          <a:stretch/>
        </p:blipFill>
        <p:spPr>
          <a:xfrm>
            <a:off x="4654297" y="11"/>
            <a:ext cx="7537705" cy="6857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603dfd7-d93a-4381-a340-2995d8282205}" enabled="1" method="Standard" siteId="{05a0e69a-418a-47c1-9c25-9387261bf9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299</Words>
  <Application>Microsoft Macintosh PowerPoint</Application>
  <PresentationFormat>Widescreen</PresentationFormat>
  <Paragraphs>51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Rates with Year 8s</vt:lpstr>
      <vt:lpstr>PowerPoint Presentation</vt:lpstr>
      <vt:lpstr>Which is larger?</vt:lpstr>
      <vt:lpstr>PowerPoint Presentation</vt:lpstr>
      <vt:lpstr>Which is larger?</vt:lpstr>
      <vt:lpstr>PowerPoint Presentation</vt:lpstr>
      <vt:lpstr>PowerPoint Presentation</vt:lpstr>
      <vt:lpstr>Question 1 </vt:lpstr>
      <vt:lpstr>Question 1 </vt:lpstr>
      <vt:lpstr>Question 2 </vt:lpstr>
      <vt:lpstr>Question 2 </vt:lpstr>
      <vt:lpstr>Question 4 </vt:lpstr>
      <vt:lpstr>Question 4 </vt:lpstr>
      <vt:lpstr>Question 5 </vt:lpstr>
      <vt:lpstr>Question 5 </vt:lpstr>
      <vt:lpstr>Question 6 </vt:lpstr>
      <vt:lpstr>Question 6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Mills (Jeff Mills)</dc:creator>
  <cp:lastModifiedBy>Jeff Mills (Jeff Mills)</cp:lastModifiedBy>
  <cp:revision>2</cp:revision>
  <dcterms:created xsi:type="dcterms:W3CDTF">2026-08-27T19:46:01Z</dcterms:created>
  <dcterms:modified xsi:type="dcterms:W3CDTF">2026-08-28T00:58:40Z</dcterms:modified>
</cp:coreProperties>
</file>