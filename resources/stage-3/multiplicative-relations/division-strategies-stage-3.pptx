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306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308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4" r:id="rId5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millsmathstools.au/interactive-tools/stage-3/number/division-grouping-bubbles/" TargetMode="External"/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millsmathstools.au/interactive-tools/stage-3/number/ratio-table-division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937760" cy="4937760"/>
          </a:xfrm>
          <a:prstGeom prst="ellipse">
            <a:avLst/>
          </a:prstGeom>
          <a:solidFill>
            <a:srgbClr val="12877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E4572E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38160" y="5394960"/>
            <a:ext cx="2194560" cy="2194560"/>
          </a:xfrm>
          <a:prstGeom prst="ellipse">
            <a:avLst/>
          </a:prstGeom>
          <a:solidFill>
            <a:srgbClr val="F5B7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  ·   TERM 3, WEEK 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Division Strategies</a:t>
            </a:r>
            <a:endParaRPr lang="en-US" sz="5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B7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break a number apart.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B7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them is going to become your favourite.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737360"/>
            <a:ext cx="4572000" cy="4572000"/>
          </a:xfrm>
          <a:prstGeom prst="ellipse">
            <a:avLst/>
          </a:prstGeom>
          <a:solidFill>
            <a:srgbClr val="E4572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47120" y="5394960"/>
            <a:ext cx="2926080" cy="2926080"/>
          </a:xfrm>
          <a:prstGeom prst="ellipse">
            <a:avLst/>
          </a:prstGeom>
          <a:solidFill>
            <a:srgbClr val="E4572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 teach high school maths.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45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I'm here to steal your best strategies and take them back to Year 7.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06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 show me something good.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HEADING</a:t>
            </a:r>
            <a:endParaRPr lang="en-US" sz="1300" dirty="0"/>
          </a:p>
        </p:txBody>
      </p:sp>
      <p:pic>
        <p:nvPicPr>
          <p:cNvPr id="3" name="Image 0" descr="unpacked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528" y="1051560"/>
            <a:ext cx="9692640" cy="406680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834640" y="4892040"/>
            <a:ext cx="6583680" cy="1005840"/>
          </a:xfrm>
          <a:prstGeom prst="roundRect">
            <a:avLst>
              <a:gd name="adj" fmla="val 12727"/>
            </a:avLst>
          </a:prstGeom>
          <a:solidFill>
            <a:srgbClr val="FEF6E0"/>
          </a:solidFill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 rot="10800000">
            <a:off x="3520440" y="5870448"/>
            <a:ext cx="502920" cy="365760"/>
          </a:xfrm>
          <a:prstGeom prst="triangle">
            <a:avLst/>
          </a:prstGeom>
          <a:solidFill>
            <a:srgbClr val="FEF6E0"/>
          </a:solidFill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538728" y="5815584"/>
            <a:ext cx="466344" cy="91440"/>
          </a:xfrm>
          <a:prstGeom prst="rect">
            <a:avLst/>
          </a:prstGeom>
          <a:solidFill>
            <a:srgbClr val="FEF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3127248" y="4892040"/>
            <a:ext cx="5998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strategies today. Pick a favourite by the end — and be ready to defend it.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F5B7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064240" y="-1097280"/>
            <a:ext cx="3291840" cy="3291840"/>
          </a:xfrm>
          <a:prstGeom prst="ellipse">
            <a:avLst/>
          </a:prstGeom>
          <a:solidFill>
            <a:srgbClr val="F5B7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F5B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7863840" cy="43498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Don't say it.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8869680" y="2103120"/>
            <a:ext cx="2834640" cy="1371600"/>
          </a:xfrm>
          <a:prstGeom prst="roundRect">
            <a:avLst>
              <a:gd name="adj" fmla="val 9333"/>
            </a:avLst>
          </a:prstGeom>
          <a:solidFill>
            <a:srgbClr val="FEF6E0"/>
          </a:solidFill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 rot="10800000">
            <a:off x="9555480" y="3447288"/>
            <a:ext cx="502920" cy="365760"/>
          </a:xfrm>
          <a:prstGeom prst="triangle">
            <a:avLst/>
          </a:prstGeom>
          <a:solidFill>
            <a:srgbClr val="FEF6E0"/>
          </a:solidFill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573768" y="3392424"/>
            <a:ext cx="466344" cy="91440"/>
          </a:xfrm>
          <a:prstGeom prst="rect">
            <a:avLst/>
          </a:prstGeom>
          <a:solidFill>
            <a:srgbClr val="FEF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9162288" y="2103120"/>
            <a:ext cx="2249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see you wanting to say it. Don't.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F5B7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064240" y="-1097280"/>
            <a:ext cx="3291840" cy="3291840"/>
          </a:xfrm>
          <a:prstGeom prst="ellipse">
            <a:avLst/>
          </a:prstGeom>
          <a:solidFill>
            <a:srgbClr val="F5B7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F5B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F5B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7863840" cy="43498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ones can you rule OUT?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8869680" y="1737360"/>
            <a:ext cx="2834640" cy="1371600"/>
          </a:xfrm>
          <a:prstGeom prst="roundRect">
            <a:avLst>
              <a:gd name="adj" fmla="val 9333"/>
            </a:avLst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 rot="10800000">
            <a:off x="9555480" y="3081528"/>
            <a:ext cx="502920" cy="365760"/>
          </a:xfrm>
          <a:prstGeom prst="triangle">
            <a:avLst/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573768" y="3026664"/>
            <a:ext cx="466344" cy="91440"/>
          </a:xfrm>
          <a:prstGeom prst="rect">
            <a:avLst/>
          </a:prstGeom>
          <a:solidFill>
            <a:srgbClr val="E1F2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9162288" y="1737360"/>
            <a:ext cx="2249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Ruling out is easier than picking. Start there.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F5B7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064240" y="-1097280"/>
            <a:ext cx="3291840" cy="3291840"/>
          </a:xfrm>
          <a:prstGeom prst="ellipse">
            <a:avLst/>
          </a:prstGeom>
          <a:solidFill>
            <a:srgbClr val="F5B7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F5B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F5B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F5B7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7863840" cy="43498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ones can you rule OUT?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8869680" y="1737360"/>
            <a:ext cx="2834640" cy="1371600"/>
          </a:xfrm>
          <a:prstGeom prst="roundRect">
            <a:avLst>
              <a:gd name="adj" fmla="val 9333"/>
            </a:avLst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 rot="10800000">
            <a:off x="9555480" y="3081528"/>
            <a:ext cx="502920" cy="365760"/>
          </a:xfrm>
          <a:prstGeom prst="triangle">
            <a:avLst/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573768" y="3026664"/>
            <a:ext cx="466344" cy="91440"/>
          </a:xfrm>
          <a:prstGeom prst="rect">
            <a:avLst/>
          </a:prstGeom>
          <a:solidFill>
            <a:srgbClr val="E1F2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9162288" y="1737360"/>
            <a:ext cx="2249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Ruling out is easier than picking. Start there.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8869680" y="3429000"/>
            <a:ext cx="2834640" cy="1463040"/>
          </a:xfrm>
          <a:prstGeom prst="roundRect">
            <a:avLst>
              <a:gd name="adj" fmla="val 8750"/>
            </a:avLst>
          </a:prstGeom>
          <a:solidFill>
            <a:srgbClr val="FDEDE7"/>
          </a:solidFill>
          <a:ln w="254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rot="10800000">
            <a:off x="10469880" y="4864608"/>
            <a:ext cx="502920" cy="365760"/>
          </a:xfrm>
          <a:prstGeom prst="triangle">
            <a:avLst/>
          </a:prstGeom>
          <a:solidFill>
            <a:srgbClr val="FDEDE7"/>
          </a:solidFill>
          <a:ln w="254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488168" y="4809744"/>
            <a:ext cx="466344" cy="91440"/>
          </a:xfrm>
          <a:prstGeom prst="rect">
            <a:avLst/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162288" y="3429000"/>
            <a:ext cx="2249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know? Convince me.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5852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needs the exact answer. Nobody.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4480560"/>
            <a:ext cx="3840480" cy="3840480"/>
          </a:xfrm>
          <a:prstGeom prst="ellipse">
            <a:avLst/>
          </a:prstGeom>
          <a:solidFill>
            <a:srgbClr val="F5B7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05840" y="-1280160"/>
            <a:ext cx="3108960" cy="3108960"/>
          </a:xfrm>
          <a:prstGeom prst="ellipse">
            <a:avLst/>
          </a:prstGeom>
          <a:solidFill>
            <a:srgbClr val="F5B7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  ·  ROUND TWO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F5B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Partner first. No hands.</a:t>
            </a:r>
            <a:endParaRPr lang="en-US" sz="3600" dirty="0"/>
          </a:p>
        </p:txBody>
      </p:sp>
      <p:pic>
        <p:nvPicPr>
          <p:cNvPr id="8" name="Image 0" descr="unpacked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7863840" cy="434980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869680" y="2011680"/>
            <a:ext cx="2834640" cy="1554480"/>
          </a:xfrm>
          <a:prstGeom prst="roundRect">
            <a:avLst>
              <a:gd name="adj" fmla="val 8235"/>
            </a:avLst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 rot="10800000">
            <a:off x="9555480" y="3538728"/>
            <a:ext cx="502920" cy="365760"/>
          </a:xfrm>
          <a:prstGeom prst="triangle">
            <a:avLst/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573768" y="3483864"/>
            <a:ext cx="466344" cy="91440"/>
          </a:xfrm>
          <a:prstGeom prst="rect">
            <a:avLst/>
          </a:prstGeom>
          <a:solidFill>
            <a:srgbClr val="E1F2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9162288" y="2011680"/>
            <a:ext cx="22494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your partner which one. Then tell them why.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4480560"/>
            <a:ext cx="3840480" cy="3840480"/>
          </a:xfrm>
          <a:prstGeom prst="ellipse">
            <a:avLst/>
          </a:prstGeom>
          <a:solidFill>
            <a:srgbClr val="F5B7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05840" y="-1280160"/>
            <a:ext cx="3108960" cy="3108960"/>
          </a:xfrm>
          <a:prstGeom prst="ellipse">
            <a:avLst/>
          </a:prstGeom>
          <a:solidFill>
            <a:srgbClr val="F5B7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  ·  ROUND TWO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F5B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F5B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Did anyone change their mind?</a:t>
            </a:r>
            <a:endParaRPr lang="en-US" sz="3600" dirty="0"/>
          </a:p>
        </p:txBody>
      </p:sp>
      <p:pic>
        <p:nvPicPr>
          <p:cNvPr id="8" name="Image 0" descr="unpacked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7863840" cy="434980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869680" y="1737360"/>
            <a:ext cx="2834640" cy="1371600"/>
          </a:xfrm>
          <a:prstGeom prst="roundRect">
            <a:avLst>
              <a:gd name="adj" fmla="val 9333"/>
            </a:avLst>
          </a:prstGeom>
          <a:solidFill>
            <a:srgbClr val="FDEDE7"/>
          </a:solidFill>
          <a:ln w="254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 rot="10800000">
            <a:off x="9555480" y="3081528"/>
            <a:ext cx="502920" cy="365760"/>
          </a:xfrm>
          <a:prstGeom prst="triangle">
            <a:avLst/>
          </a:prstGeom>
          <a:solidFill>
            <a:srgbClr val="FDEDE7"/>
          </a:solidFill>
          <a:ln w="254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573768" y="3026664"/>
            <a:ext cx="466344" cy="91440"/>
          </a:xfrm>
          <a:prstGeom prst="rect">
            <a:avLst/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9162288" y="1737360"/>
            <a:ext cx="2249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your mind is a maths skill. Own up.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8869680" y="3520440"/>
            <a:ext cx="2834640" cy="1463040"/>
          </a:xfrm>
          <a:prstGeom prst="roundRect">
            <a:avLst>
              <a:gd name="adj" fmla="val 7500"/>
            </a:avLst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869680" y="352044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Keep this one.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 come back to it.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5852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Somebody in this room is about to find out this one is sneaky.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737360"/>
            <a:ext cx="4572000" cy="4572000"/>
          </a:xfrm>
          <a:prstGeom prst="ellipse">
            <a:avLst/>
          </a:prstGeom>
          <a:solidFill>
            <a:srgbClr val="E4572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47120" y="5394960"/>
            <a:ext cx="2926080" cy="2926080"/>
          </a:xfrm>
          <a:prstGeom prst="ellipse">
            <a:avLst/>
          </a:prstGeom>
          <a:solidFill>
            <a:srgbClr val="E4572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YOU GO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Four ways. Yes, four.</a:t>
            </a:r>
            <a:endParaRPr lang="en-US" sz="3600" dirty="0"/>
          </a:p>
        </p:txBody>
      </p:sp>
      <p:pic>
        <p:nvPicPr>
          <p:cNvPr id="6" name="Image 0" descr="unpacked/ppt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5726607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23887" y="2651760"/>
            <a:ext cx="4788993" cy="1645920"/>
          </a:xfrm>
          <a:prstGeom prst="roundRect">
            <a:avLst>
              <a:gd name="adj" fmla="val 7778"/>
            </a:avLst>
          </a:prstGeom>
          <a:solidFill>
            <a:srgbClr val="FDEDE7"/>
          </a:solidFill>
          <a:ln w="254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 rot="10800000">
            <a:off x="7509687" y="4270248"/>
            <a:ext cx="502920" cy="365760"/>
          </a:xfrm>
          <a:prstGeom prst="triangle">
            <a:avLst/>
          </a:prstGeom>
          <a:solidFill>
            <a:srgbClr val="FDEDE7"/>
          </a:solidFill>
          <a:ln w="254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527975" y="4215384"/>
            <a:ext cx="466344" cy="91440"/>
          </a:xfrm>
          <a:prstGeom prst="rect">
            <a:avLst/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116495" y="2651760"/>
            <a:ext cx="4203777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find two, that's a win. If you find four, I'm taking a photo.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737360"/>
            <a:ext cx="4572000" cy="4572000"/>
          </a:xfrm>
          <a:prstGeom prst="ellipse">
            <a:avLst/>
          </a:prstGeom>
          <a:solidFill>
            <a:srgbClr val="E4572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47120" y="5394960"/>
            <a:ext cx="2926080" cy="2926080"/>
          </a:xfrm>
          <a:prstGeom prst="ellipse">
            <a:avLst/>
          </a:prstGeom>
          <a:solidFill>
            <a:srgbClr val="E4572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YOU GO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small print</a:t>
            </a:r>
            <a:endParaRPr lang="en-US" sz="3600" dirty="0"/>
          </a:p>
        </p:txBody>
      </p:sp>
      <p:pic>
        <p:nvPicPr>
          <p:cNvPr id="6" name="Image 0" descr="unpacked/ppt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5726607" cy="4206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23887" y="1828800"/>
            <a:ext cx="4788993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minutes. Silent. On your own.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compare with your partner.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way means different thinking — not different handwriting.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at two? Write the two. That is still an answer.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45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828800"/>
            <a:ext cx="5120640" cy="5120640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81360" y="4572000"/>
            <a:ext cx="3291840" cy="3291840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778240" y="5760720"/>
            <a:ext cx="1828800" cy="1828800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0" b="1" dirty="0">
                <a:solidFill>
                  <a:srgbClr val="FFFFFF">
                    <a:alpha val="38000"/>
                  </a:srgbClr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55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1 OF 3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65176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Sharing and regrouping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3246120" y="3840480"/>
            <a:ext cx="146304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200400" y="4114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the number out into equal groups.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5120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A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not one at a time. We are not animals.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737360"/>
            <a:ext cx="4572000" cy="4572000"/>
          </a:xfrm>
          <a:prstGeom prst="ellipse">
            <a:avLst/>
          </a:prstGeom>
          <a:solidFill>
            <a:srgbClr val="E4572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47120" y="5394960"/>
            <a:ext cx="2926080" cy="2926080"/>
          </a:xfrm>
          <a:prstGeom prst="ellipse">
            <a:avLst/>
          </a:prstGeom>
          <a:solidFill>
            <a:srgbClr val="E4572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1  ·  SHARING AND REGROUPING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337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2623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909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7195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64 ÷ 4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868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groups, and 64 to hand out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we start?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31520" y="2103120"/>
            <a:ext cx="1645920" cy="14630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697480" y="2103120"/>
            <a:ext cx="1645920" cy="14630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2103120"/>
            <a:ext cx="1645920" cy="14630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29400" y="2103120"/>
            <a:ext cx="1645920" cy="14630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737360"/>
            <a:ext cx="4572000" cy="4572000"/>
          </a:xfrm>
          <a:prstGeom prst="ellipse">
            <a:avLst/>
          </a:prstGeom>
          <a:solidFill>
            <a:srgbClr val="E4572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47120" y="5394960"/>
            <a:ext cx="2926080" cy="2926080"/>
          </a:xfrm>
          <a:prstGeom prst="ellipse">
            <a:avLst/>
          </a:prstGeom>
          <a:solidFill>
            <a:srgbClr val="E4572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1  ·  SHARING AND REGROUPING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337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2623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909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7195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64 ÷ 4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868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groups, and 64 to hand out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gets 10. Why 10?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31520" y="2103120"/>
            <a:ext cx="1645920" cy="1463040"/>
          </a:xfrm>
          <a:prstGeom prst="ellipse">
            <a:avLst/>
          </a:prstGeom>
          <a:solidFill>
            <a:srgbClr val="FDEDE7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31520" y="21031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45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2697480" y="2103120"/>
            <a:ext cx="1645920" cy="1463040"/>
          </a:xfrm>
          <a:prstGeom prst="ellipse">
            <a:avLst/>
          </a:prstGeom>
          <a:solidFill>
            <a:srgbClr val="FDEDE7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2697480" y="21031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45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4663440" y="2103120"/>
            <a:ext cx="1645920" cy="1463040"/>
          </a:xfrm>
          <a:prstGeom prst="ellipse">
            <a:avLst/>
          </a:prstGeom>
          <a:solidFill>
            <a:srgbClr val="FDEDE7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663440" y="21031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45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6629400" y="2103120"/>
            <a:ext cx="1645920" cy="1463040"/>
          </a:xfrm>
          <a:prstGeom prst="ellipse">
            <a:avLst/>
          </a:prstGeom>
          <a:solidFill>
            <a:srgbClr val="FDEDE7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629400" y="21031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45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2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737360"/>
            <a:ext cx="4572000" cy="4572000"/>
          </a:xfrm>
          <a:prstGeom prst="ellipse">
            <a:avLst/>
          </a:prstGeom>
          <a:solidFill>
            <a:srgbClr val="E4572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47120" y="5394960"/>
            <a:ext cx="2926080" cy="2926080"/>
          </a:xfrm>
          <a:prstGeom prst="ellipse">
            <a:avLst/>
          </a:prstGeom>
          <a:solidFill>
            <a:srgbClr val="E4572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1  ·  SHARING AND REGROUPING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337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2623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909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7195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64 ÷ 4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868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groups, and 64 to hand out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how much is gone, and how much is left?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31520" y="2103120"/>
            <a:ext cx="1645920" cy="1463040"/>
          </a:xfrm>
          <a:prstGeom prst="ellipse">
            <a:avLst/>
          </a:prstGeom>
          <a:solidFill>
            <a:srgbClr val="FDEDE7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31520" y="21031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45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2697480" y="2103120"/>
            <a:ext cx="1645920" cy="1463040"/>
          </a:xfrm>
          <a:prstGeom prst="ellipse">
            <a:avLst/>
          </a:prstGeom>
          <a:solidFill>
            <a:srgbClr val="FDEDE7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2697480" y="21031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45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4663440" y="2103120"/>
            <a:ext cx="1645920" cy="1463040"/>
          </a:xfrm>
          <a:prstGeom prst="ellipse">
            <a:avLst/>
          </a:prstGeom>
          <a:solidFill>
            <a:srgbClr val="FDEDE7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663440" y="21031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45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6629400" y="2103120"/>
            <a:ext cx="1645920" cy="1463040"/>
          </a:xfrm>
          <a:prstGeom prst="ellipse">
            <a:avLst/>
          </a:prstGeom>
          <a:solidFill>
            <a:srgbClr val="FDEDE7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629400" y="21031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45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8732520" y="210312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3F6F8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961120" y="226771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 × 10 = 40</a:t>
            </a:r>
            <a:endParaRPr lang="en-US" sz="2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handed out so far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731520" y="3794760"/>
            <a:ext cx="4937760" cy="960120"/>
          </a:xfrm>
          <a:prstGeom prst="roundRect">
            <a:avLst>
              <a:gd name="adj" fmla="val 13333"/>
            </a:avLst>
          </a:prstGeom>
          <a:solidFill>
            <a:srgbClr val="FDEDE7"/>
          </a:solidFill>
          <a:ln w="254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 rot="10800000">
            <a:off x="1417320" y="4727448"/>
            <a:ext cx="502920" cy="365760"/>
          </a:xfrm>
          <a:prstGeom prst="triangle">
            <a:avLst/>
          </a:prstGeom>
          <a:solidFill>
            <a:srgbClr val="FDEDE7"/>
          </a:solidFill>
          <a:ln w="254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435608" y="4672584"/>
            <a:ext cx="466344" cy="91440"/>
          </a:xfrm>
          <a:prstGeom prst="rect">
            <a:avLst/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1024128" y="3794760"/>
            <a:ext cx="43525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64 − 40 = 24 still to share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737360"/>
            <a:ext cx="4572000" cy="4572000"/>
          </a:xfrm>
          <a:prstGeom prst="ellipse">
            <a:avLst/>
          </a:prstGeom>
          <a:solidFill>
            <a:srgbClr val="E4572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47120" y="5394960"/>
            <a:ext cx="2926080" cy="2926080"/>
          </a:xfrm>
          <a:prstGeom prst="ellipse">
            <a:avLst/>
          </a:prstGeom>
          <a:solidFill>
            <a:srgbClr val="E4572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1  ·  SHARING AND REGROUPING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337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2623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909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7195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64 ÷ 4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868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groups, and 64 to hand out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deal out the 24 that's left.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31520" y="2103120"/>
            <a:ext cx="1645920" cy="1463040"/>
          </a:xfrm>
          <a:prstGeom prst="ellipse">
            <a:avLst/>
          </a:prstGeom>
          <a:solidFill>
            <a:srgbClr val="FDEDE7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31520" y="21031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45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 + 6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2697480" y="2103120"/>
            <a:ext cx="1645920" cy="1463040"/>
          </a:xfrm>
          <a:prstGeom prst="ellipse">
            <a:avLst/>
          </a:prstGeom>
          <a:solidFill>
            <a:srgbClr val="FDEDE7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2697480" y="21031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45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 + 6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4663440" y="2103120"/>
            <a:ext cx="1645920" cy="1463040"/>
          </a:xfrm>
          <a:prstGeom prst="ellipse">
            <a:avLst/>
          </a:prstGeom>
          <a:solidFill>
            <a:srgbClr val="FDEDE7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663440" y="21031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45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 + 6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6629400" y="2103120"/>
            <a:ext cx="1645920" cy="1463040"/>
          </a:xfrm>
          <a:prstGeom prst="ellipse">
            <a:avLst/>
          </a:prstGeom>
          <a:solidFill>
            <a:srgbClr val="FDEDE7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629400" y="21031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45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 + 6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8732520" y="210312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3F6F8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961120" y="226771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 × 10 = 40</a:t>
            </a:r>
            <a:endParaRPr lang="en-US" sz="2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handed out so far</a:t>
            </a:r>
            <a:endParaRPr lang="en-US" sz="2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737360"/>
            <a:ext cx="4572000" cy="4572000"/>
          </a:xfrm>
          <a:prstGeom prst="ellipse">
            <a:avLst/>
          </a:prstGeom>
          <a:solidFill>
            <a:srgbClr val="E4572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47120" y="5394960"/>
            <a:ext cx="2926080" cy="2926080"/>
          </a:xfrm>
          <a:prstGeom prst="ellipse">
            <a:avLst/>
          </a:prstGeom>
          <a:solidFill>
            <a:srgbClr val="E4572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1  ·  SHARING AND REGROUPING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337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2623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909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7195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64 ÷ 4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868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groups, and 64 to hand out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that's the lot.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31520" y="2103120"/>
            <a:ext cx="1645920" cy="1463040"/>
          </a:xfrm>
          <a:prstGeom prst="ellipse">
            <a:avLst/>
          </a:prstGeom>
          <a:solidFill>
            <a:srgbClr val="FDEDE7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31520" y="21031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45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 + 6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2697480" y="2103120"/>
            <a:ext cx="1645920" cy="1463040"/>
          </a:xfrm>
          <a:prstGeom prst="ellipse">
            <a:avLst/>
          </a:prstGeom>
          <a:solidFill>
            <a:srgbClr val="FDEDE7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2697480" y="21031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45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 + 6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4663440" y="2103120"/>
            <a:ext cx="1645920" cy="1463040"/>
          </a:xfrm>
          <a:prstGeom prst="ellipse">
            <a:avLst/>
          </a:prstGeom>
          <a:solidFill>
            <a:srgbClr val="FDEDE7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663440" y="21031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45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 + 6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6629400" y="2103120"/>
            <a:ext cx="1645920" cy="1463040"/>
          </a:xfrm>
          <a:prstGeom prst="ellipse">
            <a:avLst/>
          </a:prstGeom>
          <a:solidFill>
            <a:srgbClr val="FDEDE7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629400" y="21031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45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 + 6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8732520" y="210312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3F6F8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961120" y="226771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 × 10 = 40</a:t>
            </a:r>
            <a:endParaRPr lang="en-US" sz="2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handed out so far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8732520" y="365760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3F6F8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961120" y="38221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 × 6 = 24</a:t>
            </a:r>
            <a:endParaRPr lang="en-US" sz="2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that clears it — 0 left</a:t>
            </a:r>
            <a:endParaRPr lang="en-US" sz="2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737360"/>
            <a:ext cx="4572000" cy="4572000"/>
          </a:xfrm>
          <a:prstGeom prst="ellipse">
            <a:avLst/>
          </a:prstGeom>
          <a:solidFill>
            <a:srgbClr val="E4572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47120" y="5394960"/>
            <a:ext cx="2926080" cy="2926080"/>
          </a:xfrm>
          <a:prstGeom prst="ellipse">
            <a:avLst/>
          </a:prstGeom>
          <a:solidFill>
            <a:srgbClr val="E4572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1  ·  SHARING AND REGROUPING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337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2623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909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7195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64 ÷ 4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868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groups, and 64 to hand out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up what one group got.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31520" y="2103120"/>
            <a:ext cx="1645920" cy="1463040"/>
          </a:xfrm>
          <a:prstGeom prst="ellipse">
            <a:avLst/>
          </a:prstGeom>
          <a:solidFill>
            <a:srgbClr val="FDEDE7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31520" y="21031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45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 + 6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2697480" y="2103120"/>
            <a:ext cx="1645920" cy="1463040"/>
          </a:xfrm>
          <a:prstGeom prst="ellipse">
            <a:avLst/>
          </a:prstGeom>
          <a:solidFill>
            <a:srgbClr val="FDEDE7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2697480" y="21031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45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 + 6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4663440" y="2103120"/>
            <a:ext cx="1645920" cy="1463040"/>
          </a:xfrm>
          <a:prstGeom prst="ellipse">
            <a:avLst/>
          </a:prstGeom>
          <a:solidFill>
            <a:srgbClr val="FDEDE7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663440" y="21031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45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 + 6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6629400" y="2103120"/>
            <a:ext cx="1645920" cy="1463040"/>
          </a:xfrm>
          <a:prstGeom prst="ellipse">
            <a:avLst/>
          </a:prstGeom>
          <a:solidFill>
            <a:srgbClr val="FDEDE7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629400" y="21031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45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 + 6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8732520" y="210312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3F6F8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961120" y="226771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 × 10 = 40</a:t>
            </a:r>
            <a:endParaRPr lang="en-US" sz="2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handed out so far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8732520" y="365760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3F6F8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961120" y="38221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 × 6 = 24</a:t>
            </a:r>
            <a:endParaRPr lang="en-US" sz="2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that clears it — 0 left</a:t>
            </a:r>
            <a:endParaRPr lang="en-US" sz="2500" dirty="0"/>
          </a:p>
        </p:txBody>
      </p:sp>
      <p:sp>
        <p:nvSpPr>
          <p:cNvPr id="27" name="Shape 25"/>
          <p:cNvSpPr/>
          <p:nvPr/>
        </p:nvSpPr>
        <p:spPr>
          <a:xfrm>
            <a:off x="731520" y="4983480"/>
            <a:ext cx="4937760" cy="1188720"/>
          </a:xfrm>
          <a:prstGeom prst="roundRect">
            <a:avLst>
              <a:gd name="adj" fmla="val 9231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731520" y="49834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64 ÷ 4 = 16</a:t>
            </a:r>
            <a:endParaRPr lang="en-US" sz="3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737360"/>
            <a:ext cx="4572000" cy="4572000"/>
          </a:xfrm>
          <a:prstGeom prst="ellipse">
            <a:avLst/>
          </a:prstGeom>
          <a:solidFill>
            <a:srgbClr val="E4572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47120" y="5394960"/>
            <a:ext cx="2926080" cy="2926080"/>
          </a:xfrm>
          <a:prstGeom prst="ellipse">
            <a:avLst/>
          </a:prstGeom>
          <a:solidFill>
            <a:srgbClr val="E4572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1  ·  SHARING AND REGROUPING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337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2623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909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7195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64 ÷ 4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868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groups, and 64 to hand out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prove it.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31520" y="2103120"/>
            <a:ext cx="1645920" cy="1463040"/>
          </a:xfrm>
          <a:prstGeom prst="ellipse">
            <a:avLst/>
          </a:prstGeom>
          <a:solidFill>
            <a:srgbClr val="FDEDE7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31520" y="21031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45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 + 6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2697480" y="2103120"/>
            <a:ext cx="1645920" cy="1463040"/>
          </a:xfrm>
          <a:prstGeom prst="ellipse">
            <a:avLst/>
          </a:prstGeom>
          <a:solidFill>
            <a:srgbClr val="FDEDE7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2697480" y="21031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45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 + 6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4663440" y="2103120"/>
            <a:ext cx="1645920" cy="1463040"/>
          </a:xfrm>
          <a:prstGeom prst="ellipse">
            <a:avLst/>
          </a:prstGeom>
          <a:solidFill>
            <a:srgbClr val="FDEDE7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663440" y="21031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45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 + 6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6629400" y="2103120"/>
            <a:ext cx="1645920" cy="1463040"/>
          </a:xfrm>
          <a:prstGeom prst="ellipse">
            <a:avLst/>
          </a:prstGeom>
          <a:solidFill>
            <a:srgbClr val="FDEDE7"/>
          </a:solidFill>
          <a:ln w="381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629400" y="21031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45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 + 6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8732520" y="210312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3F6F8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961120" y="226771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 × 10 = 40</a:t>
            </a:r>
            <a:endParaRPr lang="en-US" sz="2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handed out so far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8732520" y="365760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F3F6F8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961120" y="382219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 × 6 = 24</a:t>
            </a:r>
            <a:endParaRPr lang="en-US" sz="2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that clears it — 0 left</a:t>
            </a:r>
            <a:endParaRPr lang="en-US" sz="2500" dirty="0"/>
          </a:p>
        </p:txBody>
      </p:sp>
      <p:sp>
        <p:nvSpPr>
          <p:cNvPr id="27" name="Shape 25"/>
          <p:cNvSpPr/>
          <p:nvPr/>
        </p:nvSpPr>
        <p:spPr>
          <a:xfrm>
            <a:off x="731520" y="4983480"/>
            <a:ext cx="4937760" cy="1188720"/>
          </a:xfrm>
          <a:prstGeom prst="roundRect">
            <a:avLst>
              <a:gd name="adj" fmla="val 9231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731520" y="49834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64 ÷ 4 = 16</a:t>
            </a:r>
            <a:endParaRPr lang="en-US" sz="3800" dirty="0"/>
          </a:p>
        </p:txBody>
      </p:sp>
      <p:sp>
        <p:nvSpPr>
          <p:cNvPr id="29" name="Shape 27"/>
          <p:cNvSpPr/>
          <p:nvPr/>
        </p:nvSpPr>
        <p:spPr>
          <a:xfrm>
            <a:off x="6035040" y="4983480"/>
            <a:ext cx="56235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31750">
            <a:solidFill>
              <a:srgbClr val="E4572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0350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 backwards:   </a:t>
            </a:r>
            <a:r>
              <a:rPr lang="en-US" sz="2700" b="1" dirty="0">
                <a:solidFill>
                  <a:srgbClr val="E457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 × 4 = 64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45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E4572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064240" y="-1097280"/>
            <a:ext cx="3291840" cy="3291840"/>
          </a:xfrm>
          <a:prstGeom prst="ellipse">
            <a:avLst/>
          </a:prstGeom>
          <a:solidFill>
            <a:srgbClr val="E4572E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10, and not 1 at a time?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00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E3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Because we already knew 4 × 10.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B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in handfuls you already know. That's the whole trick.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F5A89A-21C3-B53F-5DFB-9FE38AE936C4}"/>
              </a:ext>
            </a:extLst>
          </p:cNvPr>
          <p:cNvSpPr txBox="1"/>
          <p:nvPr/>
        </p:nvSpPr>
        <p:spPr>
          <a:xfrm>
            <a:off x="109105" y="6285453"/>
            <a:ext cx="11196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https://millsmathstools.au/interactive-tools/stage-3/number/division-grouping-bubbles/</a:t>
            </a: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ACAACA-714F-2B92-3108-101AB436D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39" y="203215"/>
            <a:ext cx="11203522" cy="594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44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87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828800"/>
            <a:ext cx="5120640" cy="5120640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81360" y="4572000"/>
            <a:ext cx="3291840" cy="3291840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778240" y="5760720"/>
            <a:ext cx="1828800" cy="1828800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0" b="1" dirty="0">
                <a:solidFill>
                  <a:srgbClr val="FFFFFF">
                    <a:alpha val="38000"/>
                  </a:srgbClr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55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2 OF 3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65176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Known products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3246120" y="3840480"/>
            <a:ext cx="146304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200400" y="4114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fact you already know. Build up to the one you want.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5120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A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you write down gets wasted.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4480560"/>
            <a:ext cx="3840480" cy="3840480"/>
          </a:xfrm>
          <a:prstGeom prst="ellipse">
            <a:avLst/>
          </a:prstGeom>
          <a:solidFill>
            <a:srgbClr val="12877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05840" y="-1280160"/>
            <a:ext cx="3108960" cy="3108960"/>
          </a:xfrm>
          <a:prstGeom prst="ellipse">
            <a:avLst/>
          </a:prstGeom>
          <a:solidFill>
            <a:srgbClr val="12877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2  ·  KNOWN PRODUCTS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623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909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195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64 ÷ 4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868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4s make 64?</a:t>
            </a:r>
            <a:endParaRPr lang="en-US" sz="2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0200"/>
          <a:ext cx="3383280" cy="340156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7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7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846320" y="1920240"/>
            <a:ext cx="6766560" cy="1234440"/>
          </a:xfrm>
          <a:prstGeom prst="roundRect">
            <a:avLst>
              <a:gd name="adj" fmla="val 10370"/>
            </a:avLst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rot="10800000">
            <a:off x="5532120" y="3127248"/>
            <a:ext cx="502920" cy="365760"/>
          </a:xfrm>
          <a:prstGeom prst="triangle">
            <a:avLst/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550408" y="3072384"/>
            <a:ext cx="466344" cy="91440"/>
          </a:xfrm>
          <a:prstGeom prst="rect">
            <a:avLst/>
          </a:prstGeom>
          <a:solidFill>
            <a:srgbClr val="E1F2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138928" y="1920240"/>
            <a:ext cx="6181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4s does it take to make 64?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4480560"/>
            <a:ext cx="3840480" cy="3840480"/>
          </a:xfrm>
          <a:prstGeom prst="ellipse">
            <a:avLst/>
          </a:prstGeom>
          <a:solidFill>
            <a:srgbClr val="12877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05840" y="-1280160"/>
            <a:ext cx="3108960" cy="3108960"/>
          </a:xfrm>
          <a:prstGeom prst="ellipse">
            <a:avLst/>
          </a:prstGeom>
          <a:solidFill>
            <a:srgbClr val="12877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2  ·  KNOWN PRODUCTS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623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909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195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64 ÷ 4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868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4s make 64?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0200"/>
          <a:ext cx="3383280" cy="340156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7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7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4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846320" y="1920240"/>
            <a:ext cx="6766560" cy="1234440"/>
          </a:xfrm>
          <a:prstGeom prst="roundRect">
            <a:avLst>
              <a:gd name="adj" fmla="val 10370"/>
            </a:avLst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rot="10800000">
            <a:off x="5532120" y="3127248"/>
            <a:ext cx="502920" cy="365760"/>
          </a:xfrm>
          <a:prstGeom prst="triangle">
            <a:avLst/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550408" y="3072384"/>
            <a:ext cx="466344" cy="91440"/>
          </a:xfrm>
          <a:prstGeom prst="rect">
            <a:avLst/>
          </a:prstGeom>
          <a:solidFill>
            <a:srgbClr val="E1F2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138928" y="1920240"/>
            <a:ext cx="6181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one. Always start with something true.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4480560"/>
            <a:ext cx="3840480" cy="3840480"/>
          </a:xfrm>
          <a:prstGeom prst="ellipse">
            <a:avLst/>
          </a:prstGeom>
          <a:solidFill>
            <a:srgbClr val="12877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05840" y="-1280160"/>
            <a:ext cx="3108960" cy="3108960"/>
          </a:xfrm>
          <a:prstGeom prst="ellipse">
            <a:avLst/>
          </a:prstGeom>
          <a:solidFill>
            <a:srgbClr val="12877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2  ·  KNOWN PRODUCTS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623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909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195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64 ÷ 4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868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4s make 64?</a:t>
            </a:r>
            <a:endParaRPr lang="en-US" sz="2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0200"/>
          <a:ext cx="3383280" cy="340156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7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7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4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10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40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846320" y="1920240"/>
            <a:ext cx="6766560" cy="1234440"/>
          </a:xfrm>
          <a:prstGeom prst="roundRect">
            <a:avLst>
              <a:gd name="adj" fmla="val 10370"/>
            </a:avLst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rot="10800000">
            <a:off x="5532120" y="3127248"/>
            <a:ext cx="502920" cy="365760"/>
          </a:xfrm>
          <a:prstGeom prst="triangle">
            <a:avLst/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550408" y="3072384"/>
            <a:ext cx="466344" cy="91440"/>
          </a:xfrm>
          <a:prstGeom prst="rect">
            <a:avLst/>
          </a:prstGeom>
          <a:solidFill>
            <a:srgbClr val="E1F2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138928" y="1920240"/>
            <a:ext cx="6181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groups. The easiest jump there is.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4389120" y="3291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12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write this row first, every single time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4480560"/>
            <a:ext cx="3840480" cy="3840480"/>
          </a:xfrm>
          <a:prstGeom prst="ellipse">
            <a:avLst/>
          </a:prstGeom>
          <a:solidFill>
            <a:srgbClr val="12877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05840" y="-1280160"/>
            <a:ext cx="3108960" cy="3108960"/>
          </a:xfrm>
          <a:prstGeom prst="ellipse">
            <a:avLst/>
          </a:prstGeom>
          <a:solidFill>
            <a:srgbClr val="12877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2  ·  KNOWN PRODUCTS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623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909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195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64 ÷ 4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868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4s make 64?</a:t>
            </a:r>
            <a:endParaRPr lang="en-US" sz="2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0200"/>
          <a:ext cx="3383280" cy="340156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7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7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4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10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40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5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20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846320" y="1920240"/>
            <a:ext cx="6766560" cy="1234440"/>
          </a:xfrm>
          <a:prstGeom prst="roundRect">
            <a:avLst>
              <a:gd name="adj" fmla="val 10370"/>
            </a:avLst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rot="10800000">
            <a:off x="5532120" y="3127248"/>
            <a:ext cx="502920" cy="365760"/>
          </a:xfrm>
          <a:prstGeom prst="triangle">
            <a:avLst/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550408" y="3072384"/>
            <a:ext cx="466344" cy="91440"/>
          </a:xfrm>
          <a:prstGeom prst="rect">
            <a:avLst/>
          </a:prstGeom>
          <a:solidFill>
            <a:srgbClr val="E1F2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138928" y="1920240"/>
            <a:ext cx="6181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ten groups is five groups. So half of 40.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4480560"/>
            <a:ext cx="3840480" cy="3840480"/>
          </a:xfrm>
          <a:prstGeom prst="ellipse">
            <a:avLst/>
          </a:prstGeom>
          <a:solidFill>
            <a:srgbClr val="12877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05840" y="-1280160"/>
            <a:ext cx="3108960" cy="3108960"/>
          </a:xfrm>
          <a:prstGeom prst="ellipse">
            <a:avLst/>
          </a:prstGeom>
          <a:solidFill>
            <a:srgbClr val="12877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2  ·  KNOWN PRODUCTS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623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909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195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64 ÷ 4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868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4s make 64?</a:t>
            </a:r>
            <a:endParaRPr lang="en-US" sz="2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0200"/>
          <a:ext cx="3383280" cy="340156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7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7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4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10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40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5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20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4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846320" y="1920240"/>
            <a:ext cx="6766560" cy="1234440"/>
          </a:xfrm>
          <a:prstGeom prst="roundRect">
            <a:avLst>
              <a:gd name="adj" fmla="val 10370"/>
            </a:avLst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rot="10800000">
            <a:off x="5532120" y="3127248"/>
            <a:ext cx="502920" cy="365760"/>
          </a:xfrm>
          <a:prstGeom prst="triangle">
            <a:avLst/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550408" y="3072384"/>
            <a:ext cx="466344" cy="91440"/>
          </a:xfrm>
          <a:prstGeom prst="rect">
            <a:avLst/>
          </a:prstGeom>
          <a:solidFill>
            <a:srgbClr val="E1F2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138928" y="1920240"/>
            <a:ext cx="6181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group. 40 + 20 + 4 = 64.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4480560"/>
            <a:ext cx="3840480" cy="3840480"/>
          </a:xfrm>
          <a:prstGeom prst="ellipse">
            <a:avLst/>
          </a:prstGeom>
          <a:solidFill>
            <a:srgbClr val="12877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05840" y="-1280160"/>
            <a:ext cx="3108960" cy="3108960"/>
          </a:xfrm>
          <a:prstGeom prst="ellipse">
            <a:avLst/>
          </a:prstGeom>
          <a:solidFill>
            <a:srgbClr val="12877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2  ·  KNOWN PRODUCTS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623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909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195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64 ÷ 4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868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4s make 64?</a:t>
            </a:r>
            <a:endParaRPr lang="en-US" sz="2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0200"/>
          <a:ext cx="3383280" cy="340156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7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7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4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10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40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5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20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4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12877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16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7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12877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64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846320" y="1920240"/>
            <a:ext cx="6766560" cy="1234440"/>
          </a:xfrm>
          <a:prstGeom prst="roundRect">
            <a:avLst>
              <a:gd name="adj" fmla="val 10370"/>
            </a:avLst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rot="10800000">
            <a:off x="5532120" y="3127248"/>
            <a:ext cx="502920" cy="365760"/>
          </a:xfrm>
          <a:prstGeom prst="triangle">
            <a:avLst/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550408" y="3072384"/>
            <a:ext cx="466344" cy="91440"/>
          </a:xfrm>
          <a:prstGeom prst="rect">
            <a:avLst/>
          </a:prstGeom>
          <a:solidFill>
            <a:srgbClr val="E1F2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138928" y="1920240"/>
            <a:ext cx="61813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+ 5 + 1 = 16 groups. Done.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4846320" y="3657600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4846320" y="365760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64 ÷ 4 = 16</a:t>
            </a:r>
            <a:endParaRPr lang="en-US" sz="3400" dirty="0"/>
          </a:p>
        </p:txBody>
      </p:sp>
      <p:sp>
        <p:nvSpPr>
          <p:cNvPr id="20" name="Shape 17"/>
          <p:cNvSpPr/>
          <p:nvPr/>
        </p:nvSpPr>
        <p:spPr>
          <a:xfrm>
            <a:off x="4846320" y="5212080"/>
            <a:ext cx="6766560" cy="1005840"/>
          </a:xfrm>
          <a:prstGeom prst="roundRect">
            <a:avLst>
              <a:gd name="adj" fmla="val 12727"/>
            </a:avLst>
          </a:prstGeom>
          <a:solidFill>
            <a:srgbClr val="FEF6E0"/>
          </a:solidFill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 rot="10800000">
            <a:off x="5532120" y="6190488"/>
            <a:ext cx="502920" cy="365760"/>
          </a:xfrm>
          <a:prstGeom prst="triangle">
            <a:avLst/>
          </a:prstGeom>
          <a:solidFill>
            <a:srgbClr val="FEF6E0"/>
          </a:solidFill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550408" y="6135624"/>
            <a:ext cx="466344" cy="91440"/>
          </a:xfrm>
          <a:prstGeom prst="rect">
            <a:avLst/>
          </a:prstGeom>
          <a:solidFill>
            <a:srgbClr val="FEF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5138928" y="5212080"/>
            <a:ext cx="6181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numbers as the bubbles — 40, 20, 4. Different bookkeeping.</a:t>
            </a:r>
            <a:endParaRPr lang="en-US" sz="1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700790-4140-A972-2A16-7FDFB774D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4446" cy="53321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21E0EC-72F0-9513-CC48-E2EB7EE632D2}"/>
              </a:ext>
            </a:extLst>
          </p:cNvPr>
          <p:cNvSpPr txBox="1"/>
          <p:nvPr/>
        </p:nvSpPr>
        <p:spPr>
          <a:xfrm>
            <a:off x="1476018" y="6004899"/>
            <a:ext cx="9239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https://millsmathstools.au/interactive-tools/stage-3/number/ratio-table-division/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786574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287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73736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47120" y="5394960"/>
            <a:ext cx="2926080" cy="292608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375 ÷ 15</a:t>
            </a:r>
            <a:endParaRPr lang="en-US" sz="6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FEAE6"/>
                </a:solidFill>
                <a:latin typeface="Century Schoolbook" pitchFamily="34" charset="0"/>
              </a:rPr>
              <a:t>What strategy is best? </a:t>
            </a:r>
            <a:endParaRPr lang="en-US" sz="3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12877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064240" y="-1097280"/>
            <a:ext cx="3291840" cy="3291840"/>
          </a:xfrm>
          <a:prstGeom prst="ellipse">
            <a:avLst/>
          </a:prstGeom>
          <a:solidFill>
            <a:srgbClr val="12877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2  ·  WHERE BUBBLES GIVE UP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623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909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195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375 ÷ 15</a:t>
            </a:r>
            <a:endParaRPr lang="en-US" sz="4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0200"/>
          <a:ext cx="3657600" cy="340156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7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15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7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120640" y="1920240"/>
            <a:ext cx="6492240" cy="1234440"/>
          </a:xfrm>
          <a:prstGeom prst="roundRect">
            <a:avLst>
              <a:gd name="adj" fmla="val 10370"/>
            </a:avLst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rot="10800000">
            <a:off x="5806440" y="3127248"/>
            <a:ext cx="502920" cy="365760"/>
          </a:xfrm>
          <a:prstGeom prst="triangle">
            <a:avLst/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824728" y="3072384"/>
            <a:ext cx="466344" cy="91440"/>
          </a:xfrm>
          <a:prstGeom prst="rect">
            <a:avLst/>
          </a:prstGeom>
          <a:solidFill>
            <a:srgbClr val="E1F2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413248" y="1920240"/>
            <a:ext cx="5907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Fine. Table it is.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12877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064240" y="-1097280"/>
            <a:ext cx="3291840" cy="3291840"/>
          </a:xfrm>
          <a:prstGeom prst="ellipse">
            <a:avLst/>
          </a:prstGeom>
          <a:solidFill>
            <a:srgbClr val="12877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2  ·  WHERE BUBBLES GIVE UP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623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909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195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375 ÷ 15</a:t>
            </a:r>
            <a:endParaRPr lang="en-US" sz="4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0200"/>
          <a:ext cx="3657600" cy="340156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7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15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7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15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120640" y="1920240"/>
            <a:ext cx="6492240" cy="1234440"/>
          </a:xfrm>
          <a:prstGeom prst="roundRect">
            <a:avLst>
              <a:gd name="adj" fmla="val 10370"/>
            </a:avLst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rot="10800000">
            <a:off x="5806440" y="3127248"/>
            <a:ext cx="502920" cy="365760"/>
          </a:xfrm>
          <a:prstGeom prst="triangle">
            <a:avLst/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824728" y="3072384"/>
            <a:ext cx="466344" cy="91440"/>
          </a:xfrm>
          <a:prstGeom prst="rect">
            <a:avLst/>
          </a:prstGeom>
          <a:solidFill>
            <a:srgbClr val="E1F2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413248" y="1920240"/>
            <a:ext cx="5907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group is 15. Free information.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12877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064240" y="-1097280"/>
            <a:ext cx="3291840" cy="3291840"/>
          </a:xfrm>
          <a:prstGeom prst="ellipse">
            <a:avLst/>
          </a:prstGeom>
          <a:solidFill>
            <a:srgbClr val="12877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2  ·  WHERE BUBBLES GIVE UP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623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909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195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375 ÷ 15</a:t>
            </a:r>
            <a:endParaRPr lang="en-US" sz="4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0200"/>
          <a:ext cx="3657600" cy="340156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7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15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7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15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10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150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120640" y="1920240"/>
            <a:ext cx="6492240" cy="1234440"/>
          </a:xfrm>
          <a:prstGeom prst="roundRect">
            <a:avLst>
              <a:gd name="adj" fmla="val 10370"/>
            </a:avLst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rot="10800000">
            <a:off x="5806440" y="3127248"/>
            <a:ext cx="502920" cy="365760"/>
          </a:xfrm>
          <a:prstGeom prst="triangle">
            <a:avLst/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824728" y="3072384"/>
            <a:ext cx="466344" cy="91440"/>
          </a:xfrm>
          <a:prstGeom prst="rect">
            <a:avLst/>
          </a:prstGeom>
          <a:solidFill>
            <a:srgbClr val="E1F2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413248" y="1920240"/>
            <a:ext cx="5907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groups is 150. Told you.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12877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064240" y="-1097280"/>
            <a:ext cx="3291840" cy="3291840"/>
          </a:xfrm>
          <a:prstGeom prst="ellipse">
            <a:avLst/>
          </a:prstGeom>
          <a:solidFill>
            <a:srgbClr val="12877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2  ·  WHERE BUBBLES GIVE UP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623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909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195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375 ÷ 15</a:t>
            </a:r>
            <a:endParaRPr lang="en-US" sz="4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0200"/>
          <a:ext cx="3657600" cy="340156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7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15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7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15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10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150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20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300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120640" y="1920240"/>
            <a:ext cx="6492240" cy="1234440"/>
          </a:xfrm>
          <a:prstGeom prst="roundRect">
            <a:avLst>
              <a:gd name="adj" fmla="val 10370"/>
            </a:avLst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rot="10800000">
            <a:off x="5806440" y="3127248"/>
            <a:ext cx="502920" cy="365760"/>
          </a:xfrm>
          <a:prstGeom prst="triangle">
            <a:avLst/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824728" y="3072384"/>
            <a:ext cx="466344" cy="91440"/>
          </a:xfrm>
          <a:prstGeom prst="rect">
            <a:avLst/>
          </a:prstGeom>
          <a:solidFill>
            <a:srgbClr val="E1F2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413248" y="1920240"/>
            <a:ext cx="5907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that row. 20 groups is 300 — and we didn't start again.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12877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064240" y="-1097280"/>
            <a:ext cx="3291840" cy="3291840"/>
          </a:xfrm>
          <a:prstGeom prst="ellipse">
            <a:avLst/>
          </a:prstGeom>
          <a:solidFill>
            <a:srgbClr val="12877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2  ·  WHERE BUBBLES GIVE UP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623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909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195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375 ÷ 15</a:t>
            </a:r>
            <a:endParaRPr lang="en-US" sz="4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0200"/>
          <a:ext cx="3657600" cy="340156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7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15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7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15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10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150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20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300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5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75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 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120640" y="1920240"/>
            <a:ext cx="6492240" cy="1234440"/>
          </a:xfrm>
          <a:prstGeom prst="roundRect">
            <a:avLst>
              <a:gd name="adj" fmla="val 10370"/>
            </a:avLst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rot="10800000">
            <a:off x="5806440" y="3127248"/>
            <a:ext cx="502920" cy="365760"/>
          </a:xfrm>
          <a:prstGeom prst="triangle">
            <a:avLst/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824728" y="3072384"/>
            <a:ext cx="466344" cy="91440"/>
          </a:xfrm>
          <a:prstGeom prst="rect">
            <a:avLst/>
          </a:prstGeom>
          <a:solidFill>
            <a:srgbClr val="E1F2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413248" y="1920240"/>
            <a:ext cx="5907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is close. 75 more gets there — and 75 is just half of 150.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12877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064240" y="-1097280"/>
            <a:ext cx="3291840" cy="3291840"/>
          </a:xfrm>
          <a:prstGeom prst="ellipse">
            <a:avLst/>
          </a:prstGeom>
          <a:solidFill>
            <a:srgbClr val="12877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2  ·  WHERE BUBBLES GIVE UP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623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909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195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375 ÷ 15</a:t>
            </a:r>
            <a:endParaRPr lang="en-US" sz="4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0200"/>
          <a:ext cx="3657600" cy="340156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7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15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87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15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10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150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20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300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5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dirty="0">
                          <a:solidFill>
                            <a:srgbClr val="1D3557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75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12877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25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7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100" b="1" dirty="0">
                          <a:solidFill>
                            <a:srgbClr val="12877F"/>
                          </a:solidFill>
                          <a:latin typeface="Century Schoolbook" pitchFamily="34" charset="0"/>
                          <a:ea typeface="Century Schoolbook" pitchFamily="34" charset="-122"/>
                          <a:cs typeface="Century Schoolbook" pitchFamily="34" charset="-120"/>
                        </a:rPr>
                        <a:t>375</a:t>
                      </a:r>
                      <a:endParaRPr lang="en-US" sz="2100" dirty="0">
                        <a:latin typeface="Century Schoolbook" charset="0"/>
                        <a:ea typeface="Century Schoolbook" charset="0"/>
                        <a:cs typeface="Century Schoolbook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C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E7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120640" y="1920240"/>
            <a:ext cx="6492240" cy="1234440"/>
          </a:xfrm>
          <a:prstGeom prst="roundRect">
            <a:avLst>
              <a:gd name="adj" fmla="val 10370"/>
            </a:avLst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rot="10800000">
            <a:off x="5806440" y="3127248"/>
            <a:ext cx="502920" cy="365760"/>
          </a:xfrm>
          <a:prstGeom prst="triangle">
            <a:avLst/>
          </a:prstGeom>
          <a:solidFill>
            <a:srgbClr val="E1F2F0"/>
          </a:solidFill>
          <a:ln w="2540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824728" y="3072384"/>
            <a:ext cx="466344" cy="91440"/>
          </a:xfrm>
          <a:prstGeom prst="rect">
            <a:avLst/>
          </a:prstGeom>
          <a:solidFill>
            <a:srgbClr val="E1F2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413248" y="1920240"/>
            <a:ext cx="5907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+ 5 = 25 groups.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120640" y="3657600"/>
            <a:ext cx="4572000" cy="1143000"/>
          </a:xfrm>
          <a:prstGeom prst="roundRect">
            <a:avLst>
              <a:gd name="adj" fmla="val 9600"/>
            </a:avLst>
          </a:prstGeom>
          <a:solidFill>
            <a:srgbClr val="1287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5120640" y="36576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375 ÷ 15 = 25</a:t>
            </a:r>
            <a:endParaRPr lang="en-US" sz="3400" dirty="0"/>
          </a:p>
        </p:txBody>
      </p:sp>
      <p:sp>
        <p:nvSpPr>
          <p:cNvPr id="19" name="Shape 16"/>
          <p:cNvSpPr/>
          <p:nvPr/>
        </p:nvSpPr>
        <p:spPr>
          <a:xfrm>
            <a:off x="5120640" y="5212080"/>
            <a:ext cx="6492240" cy="1005840"/>
          </a:xfrm>
          <a:prstGeom prst="roundRect">
            <a:avLst>
              <a:gd name="adj" fmla="val 12727"/>
            </a:avLst>
          </a:prstGeom>
          <a:solidFill>
            <a:srgbClr val="FEF6E0"/>
          </a:solidFill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 rot="10800000">
            <a:off x="5806440" y="6190488"/>
            <a:ext cx="502920" cy="365760"/>
          </a:xfrm>
          <a:prstGeom prst="triangle">
            <a:avLst/>
          </a:prstGeom>
          <a:solidFill>
            <a:srgbClr val="FEF6E0"/>
          </a:solidFill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824728" y="6135624"/>
            <a:ext cx="466344" cy="91440"/>
          </a:xfrm>
          <a:prstGeom prst="rect">
            <a:avLst/>
          </a:prstGeom>
          <a:solidFill>
            <a:srgbClr val="FEF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5413248" y="5212080"/>
            <a:ext cx="5907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you wrote stayed useful. Nothing wasted.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7B4F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828800"/>
            <a:ext cx="5120640" cy="5120640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81360" y="4572000"/>
            <a:ext cx="3291840" cy="3291840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778240" y="5760720"/>
            <a:ext cx="1828800" cy="1828800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0" b="1" dirty="0">
                <a:solidFill>
                  <a:srgbClr val="FFFFFF">
                    <a:alpha val="38000"/>
                  </a:srgbClr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55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3 OF 3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65176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 is half of 10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3246120" y="3840480"/>
            <a:ext cx="146304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200400" y="4114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by 10 is easy. Dividing by 5 is that answer, doubled.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5120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A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feels like cheating. It isn't.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737360"/>
            <a:ext cx="4572000" cy="4572000"/>
          </a:xfrm>
          <a:prstGeom prst="ellipse">
            <a:avLst/>
          </a:prstGeom>
          <a:solidFill>
            <a:srgbClr val="7B4FB5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47120" y="5394960"/>
            <a:ext cx="2926080" cy="2926080"/>
          </a:xfrm>
          <a:prstGeom prst="ellipse">
            <a:avLst/>
          </a:prstGeom>
          <a:solidFill>
            <a:srgbClr val="7B4FB5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B4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3  ·  ONE AT A TIME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62311" y="347472"/>
            <a:ext cx="128016" cy="128016"/>
          </a:xfrm>
          <a:prstGeom prst="ellipse">
            <a:avLst/>
          </a:prstGeom>
          <a:solidFill>
            <a:srgbClr val="7B4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909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195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Each one helps you with the next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685800" y="205740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D8E1E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8580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120 ÷ 10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898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8E1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?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800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pens. No calculators. Just say it.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737360"/>
            <a:ext cx="4572000" cy="4572000"/>
          </a:xfrm>
          <a:prstGeom prst="ellipse">
            <a:avLst/>
          </a:prstGeom>
          <a:solidFill>
            <a:srgbClr val="7B4FB5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47120" y="5394960"/>
            <a:ext cx="2926080" cy="2926080"/>
          </a:xfrm>
          <a:prstGeom prst="ellipse">
            <a:avLst/>
          </a:prstGeom>
          <a:solidFill>
            <a:srgbClr val="7B4FB5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B4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3  ·  ONE AT A TIME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62311" y="347472"/>
            <a:ext cx="128016" cy="128016"/>
          </a:xfrm>
          <a:prstGeom prst="ellipse">
            <a:avLst/>
          </a:prstGeom>
          <a:solidFill>
            <a:srgbClr val="7B4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90911" y="347472"/>
            <a:ext cx="128016" cy="128016"/>
          </a:xfrm>
          <a:prstGeom prst="ellipse">
            <a:avLst/>
          </a:prstGeom>
          <a:solidFill>
            <a:srgbClr val="7B4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195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Each one helps you with the next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685800" y="205740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0E9F8"/>
          </a:solidFill>
          <a:ln w="31750">
            <a:solidFill>
              <a:srgbClr val="7B4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8580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120 ÷ 10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898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B4FB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2926080" y="205740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D8E1E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292608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120 ÷ 5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2898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92608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8E1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?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800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work it out from scratch. Use the one before it.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737360"/>
            <a:ext cx="4572000" cy="4572000"/>
          </a:xfrm>
          <a:prstGeom prst="ellipse">
            <a:avLst/>
          </a:prstGeom>
          <a:solidFill>
            <a:srgbClr val="7B4FB5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47120" y="5394960"/>
            <a:ext cx="2926080" cy="2926080"/>
          </a:xfrm>
          <a:prstGeom prst="ellipse">
            <a:avLst/>
          </a:prstGeom>
          <a:solidFill>
            <a:srgbClr val="7B4FB5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B4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3  ·  ONE AT A TIME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62311" y="347472"/>
            <a:ext cx="128016" cy="128016"/>
          </a:xfrm>
          <a:prstGeom prst="ellipse">
            <a:avLst/>
          </a:prstGeom>
          <a:solidFill>
            <a:srgbClr val="7B4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90911" y="347472"/>
            <a:ext cx="128016" cy="128016"/>
          </a:xfrm>
          <a:prstGeom prst="ellipse">
            <a:avLst/>
          </a:prstGeom>
          <a:solidFill>
            <a:srgbClr val="7B4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19511" y="347472"/>
            <a:ext cx="128016" cy="128016"/>
          </a:xfrm>
          <a:prstGeom prst="ellipse">
            <a:avLst/>
          </a:prstGeom>
          <a:solidFill>
            <a:srgbClr val="7B4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Each one helps you with the next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685800" y="205740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0E9F8"/>
          </a:solidFill>
          <a:ln w="31750">
            <a:solidFill>
              <a:srgbClr val="7B4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8580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120 ÷ 10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898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B4FB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2926080" y="205740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0E9F8"/>
          </a:solidFill>
          <a:ln w="31750">
            <a:solidFill>
              <a:srgbClr val="7B4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292608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120 ÷ 5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2898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92608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B4FB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5166360" y="205740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D8E1E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16636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240 ÷ 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2898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8E1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?</a:t>
            </a:r>
            <a:endParaRPr lang="en-US" sz="4000" dirty="0"/>
          </a:p>
        </p:txBody>
      </p:sp>
      <p:sp>
        <p:nvSpPr>
          <p:cNvPr id="24" name="Shape 22"/>
          <p:cNvSpPr/>
          <p:nvPr/>
        </p:nvSpPr>
        <p:spPr>
          <a:xfrm>
            <a:off x="685800" y="4709160"/>
            <a:ext cx="7498080" cy="1097280"/>
          </a:xfrm>
          <a:prstGeom prst="roundRect">
            <a:avLst>
              <a:gd name="adj" fmla="val 11667"/>
            </a:avLst>
          </a:prstGeom>
          <a:solidFill>
            <a:srgbClr val="FDEDE7"/>
          </a:solidFill>
          <a:ln w="254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 rot="10800000">
            <a:off x="1371600" y="5779008"/>
            <a:ext cx="502920" cy="365760"/>
          </a:xfrm>
          <a:prstGeom prst="triangle">
            <a:avLst/>
          </a:prstGeom>
          <a:solidFill>
            <a:srgbClr val="FDEDE7"/>
          </a:solidFill>
          <a:ln w="2540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389888" y="5724144"/>
            <a:ext cx="466344" cy="91440"/>
          </a:xfrm>
          <a:prstGeom prst="rect">
            <a:avLst/>
          </a:prstGeom>
          <a:solidFill>
            <a:srgbClr val="FDED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978408" y="4709160"/>
            <a:ext cx="6912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 on. Dividing by 5 gave a BIGGER answer than dividing by 10?</a:t>
            </a:r>
            <a:endParaRPr lang="en-US" sz="2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737360"/>
            <a:ext cx="4572000" cy="4572000"/>
          </a:xfrm>
          <a:prstGeom prst="ellipse">
            <a:avLst/>
          </a:prstGeom>
          <a:solidFill>
            <a:srgbClr val="7B4FB5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47120" y="5394960"/>
            <a:ext cx="2926080" cy="2926080"/>
          </a:xfrm>
          <a:prstGeom prst="ellipse">
            <a:avLst/>
          </a:prstGeom>
          <a:solidFill>
            <a:srgbClr val="7B4FB5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B4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3  ·  ONE AT A TIME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62311" y="347472"/>
            <a:ext cx="128016" cy="128016"/>
          </a:xfrm>
          <a:prstGeom prst="ellipse">
            <a:avLst/>
          </a:prstGeom>
          <a:solidFill>
            <a:srgbClr val="7B4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90911" y="347472"/>
            <a:ext cx="128016" cy="128016"/>
          </a:xfrm>
          <a:prstGeom prst="ellipse">
            <a:avLst/>
          </a:prstGeom>
          <a:solidFill>
            <a:srgbClr val="7B4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19511" y="347472"/>
            <a:ext cx="128016" cy="128016"/>
          </a:xfrm>
          <a:prstGeom prst="ellipse">
            <a:avLst/>
          </a:prstGeom>
          <a:solidFill>
            <a:srgbClr val="7B4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7B4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Each one helps you with the next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685800" y="205740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0E9F8"/>
          </a:solidFill>
          <a:ln w="31750">
            <a:solidFill>
              <a:srgbClr val="7B4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8580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120 ÷ 10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898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B4FB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2926080" y="205740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0E9F8"/>
          </a:solidFill>
          <a:ln w="31750">
            <a:solidFill>
              <a:srgbClr val="7B4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292608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120 ÷ 5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2898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92608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B4FB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5166360" y="205740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0E9F8"/>
          </a:solidFill>
          <a:ln w="31750">
            <a:solidFill>
              <a:srgbClr val="7B4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16636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240 ÷ 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2898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B4FB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48</a:t>
            </a:r>
            <a:endParaRPr lang="en-US" sz="3600" dirty="0"/>
          </a:p>
        </p:txBody>
      </p:sp>
      <p:sp>
        <p:nvSpPr>
          <p:cNvPr id="24" name="Shape 22"/>
          <p:cNvSpPr/>
          <p:nvPr/>
        </p:nvSpPr>
        <p:spPr>
          <a:xfrm>
            <a:off x="7406640" y="205740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D8E1E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40664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135 ÷ 5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2898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8E1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?</a:t>
            </a:r>
            <a:endParaRPr lang="en-US" sz="40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4800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work it out from scratch. Use the one before it.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737360"/>
            <a:ext cx="4572000" cy="4572000"/>
          </a:xfrm>
          <a:prstGeom prst="ellipse">
            <a:avLst/>
          </a:prstGeom>
          <a:solidFill>
            <a:srgbClr val="7B4FB5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47120" y="5394960"/>
            <a:ext cx="2926080" cy="2926080"/>
          </a:xfrm>
          <a:prstGeom prst="ellipse">
            <a:avLst/>
          </a:prstGeom>
          <a:solidFill>
            <a:srgbClr val="7B4FB5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B4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3  ·  ONE AT A TIME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62311" y="347472"/>
            <a:ext cx="128016" cy="128016"/>
          </a:xfrm>
          <a:prstGeom prst="ellipse">
            <a:avLst/>
          </a:prstGeom>
          <a:solidFill>
            <a:srgbClr val="7B4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90911" y="347472"/>
            <a:ext cx="128016" cy="128016"/>
          </a:xfrm>
          <a:prstGeom prst="ellipse">
            <a:avLst/>
          </a:prstGeom>
          <a:solidFill>
            <a:srgbClr val="7B4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19511" y="347472"/>
            <a:ext cx="128016" cy="128016"/>
          </a:xfrm>
          <a:prstGeom prst="ellipse">
            <a:avLst/>
          </a:prstGeom>
          <a:solidFill>
            <a:srgbClr val="7B4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7B4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7B4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D8E1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Each one helps you with the next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685800" y="205740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0E9F8"/>
          </a:solidFill>
          <a:ln w="31750">
            <a:solidFill>
              <a:srgbClr val="7B4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8580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120 ÷ 10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898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B4FB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2926080" y="205740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0E9F8"/>
          </a:solidFill>
          <a:ln w="31750">
            <a:solidFill>
              <a:srgbClr val="7B4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292608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120 ÷ 5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2898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92608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B4FB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5166360" y="205740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0E9F8"/>
          </a:solidFill>
          <a:ln w="31750">
            <a:solidFill>
              <a:srgbClr val="7B4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16636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240 ÷ 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2898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B4FB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48</a:t>
            </a:r>
            <a:endParaRPr lang="en-US" sz="3600" dirty="0"/>
          </a:p>
        </p:txBody>
      </p:sp>
      <p:sp>
        <p:nvSpPr>
          <p:cNvPr id="24" name="Shape 22"/>
          <p:cNvSpPr/>
          <p:nvPr/>
        </p:nvSpPr>
        <p:spPr>
          <a:xfrm>
            <a:off x="7406640" y="205740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0E9F8"/>
          </a:solidFill>
          <a:ln w="31750">
            <a:solidFill>
              <a:srgbClr val="7B4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40664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135 ÷ 5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2898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B4FB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</a:t>
            </a:r>
            <a:endParaRPr lang="en-US" sz="3600" dirty="0"/>
          </a:p>
        </p:txBody>
      </p:sp>
      <p:sp>
        <p:nvSpPr>
          <p:cNvPr id="28" name="Shape 26"/>
          <p:cNvSpPr/>
          <p:nvPr/>
        </p:nvSpPr>
        <p:spPr>
          <a:xfrm>
            <a:off x="9646920" y="205740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25400">
            <a:solidFill>
              <a:srgbClr val="D8E1E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964692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125 ÷ 5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9646920" y="2898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64692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8E1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?</a:t>
            </a:r>
            <a:endParaRPr lang="en-US" sz="40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4800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work it out from scratch. Use the one before it.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737360"/>
            <a:ext cx="4572000" cy="4572000"/>
          </a:xfrm>
          <a:prstGeom prst="ellipse">
            <a:avLst/>
          </a:prstGeom>
          <a:solidFill>
            <a:srgbClr val="7B4FB5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47120" y="5394960"/>
            <a:ext cx="2926080" cy="2926080"/>
          </a:xfrm>
          <a:prstGeom prst="ellipse">
            <a:avLst/>
          </a:prstGeom>
          <a:solidFill>
            <a:srgbClr val="7B4FB5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B4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3  ·  ONE AT A TIME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62311" y="347472"/>
            <a:ext cx="128016" cy="128016"/>
          </a:xfrm>
          <a:prstGeom prst="ellipse">
            <a:avLst/>
          </a:prstGeom>
          <a:solidFill>
            <a:srgbClr val="7B4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90911" y="347472"/>
            <a:ext cx="128016" cy="128016"/>
          </a:xfrm>
          <a:prstGeom prst="ellipse">
            <a:avLst/>
          </a:prstGeom>
          <a:solidFill>
            <a:srgbClr val="7B4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719511" y="347472"/>
            <a:ext cx="128016" cy="128016"/>
          </a:xfrm>
          <a:prstGeom prst="ellipse">
            <a:avLst/>
          </a:prstGeom>
          <a:solidFill>
            <a:srgbClr val="7B4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48111" y="347472"/>
            <a:ext cx="128016" cy="128016"/>
          </a:xfrm>
          <a:prstGeom prst="ellipse">
            <a:avLst/>
          </a:prstGeom>
          <a:solidFill>
            <a:srgbClr val="7B4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76711" y="347472"/>
            <a:ext cx="128016" cy="128016"/>
          </a:xfrm>
          <a:prstGeom prst="ellipse">
            <a:avLst/>
          </a:prstGeom>
          <a:solidFill>
            <a:srgbClr val="7B4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405311" y="347472"/>
            <a:ext cx="128016" cy="128016"/>
          </a:xfrm>
          <a:prstGeom prst="ellipse">
            <a:avLst/>
          </a:prstGeom>
          <a:solidFill>
            <a:srgbClr val="7B4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Notice anything?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685800" y="205740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0E9F8"/>
          </a:solidFill>
          <a:ln w="31750">
            <a:solidFill>
              <a:srgbClr val="7B4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8580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120 ÷ 10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898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B4FB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2926080" y="205740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0E9F8"/>
          </a:solidFill>
          <a:ln w="31750">
            <a:solidFill>
              <a:srgbClr val="7B4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292608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120 ÷ 5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2898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92608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B4FB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5166360" y="205740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0E9F8"/>
          </a:solidFill>
          <a:ln w="31750">
            <a:solidFill>
              <a:srgbClr val="7B4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16636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240 ÷ 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2898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B4FB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48</a:t>
            </a:r>
            <a:endParaRPr lang="en-US" sz="3600" dirty="0"/>
          </a:p>
        </p:txBody>
      </p:sp>
      <p:sp>
        <p:nvSpPr>
          <p:cNvPr id="24" name="Shape 22"/>
          <p:cNvSpPr/>
          <p:nvPr/>
        </p:nvSpPr>
        <p:spPr>
          <a:xfrm>
            <a:off x="7406640" y="205740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0E9F8"/>
          </a:solidFill>
          <a:ln w="31750">
            <a:solidFill>
              <a:srgbClr val="7B4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40664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135 ÷ 5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2898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B4FB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</a:t>
            </a:r>
            <a:endParaRPr lang="en-US" sz="3600" dirty="0"/>
          </a:p>
        </p:txBody>
      </p:sp>
      <p:sp>
        <p:nvSpPr>
          <p:cNvPr id="28" name="Shape 26"/>
          <p:cNvSpPr/>
          <p:nvPr/>
        </p:nvSpPr>
        <p:spPr>
          <a:xfrm>
            <a:off x="9646920" y="2057400"/>
            <a:ext cx="2011680" cy="2286000"/>
          </a:xfrm>
          <a:prstGeom prst="roundRect">
            <a:avLst>
              <a:gd name="adj" fmla="val 5455"/>
            </a:avLst>
          </a:prstGeom>
          <a:solidFill>
            <a:srgbClr val="F0E9F8"/>
          </a:solidFill>
          <a:ln w="31750">
            <a:solidFill>
              <a:srgbClr val="7B4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964692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125 ÷ 5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9646920" y="2898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64692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B4FB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25</a:t>
            </a:r>
            <a:endParaRPr lang="en-US" sz="3600" dirty="0"/>
          </a:p>
        </p:txBody>
      </p:sp>
      <p:sp>
        <p:nvSpPr>
          <p:cNvPr id="32" name="Shape 30"/>
          <p:cNvSpPr/>
          <p:nvPr/>
        </p:nvSpPr>
        <p:spPr>
          <a:xfrm>
            <a:off x="685800" y="4663440"/>
            <a:ext cx="10972800" cy="1143000"/>
          </a:xfrm>
          <a:prstGeom prst="roundRect">
            <a:avLst>
              <a:gd name="adj" fmla="val 11200"/>
            </a:avLst>
          </a:prstGeom>
          <a:solidFill>
            <a:srgbClr val="FEF6E0"/>
          </a:solidFill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 rot="10800000">
            <a:off x="1371600" y="5779008"/>
            <a:ext cx="502920" cy="365760"/>
          </a:xfrm>
          <a:prstGeom prst="triangle">
            <a:avLst/>
          </a:prstGeom>
          <a:solidFill>
            <a:srgbClr val="FEF6E0"/>
          </a:solidFill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389888" y="5724144"/>
            <a:ext cx="466344" cy="91440"/>
          </a:xfrm>
          <a:prstGeom prst="rect">
            <a:avLst/>
          </a:prstGeom>
          <a:solidFill>
            <a:srgbClr val="FEF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978408" y="4663440"/>
            <a:ext cx="10387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rule out loud before I put it up. Someone in here has it.</a:t>
            </a:r>
            <a:endParaRPr lang="en-US" sz="2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7B4F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064240" y="-1097280"/>
            <a:ext cx="3291840" cy="329184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E5D8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Halve the divisor,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718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 the answer doubles.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822960" y="4480560"/>
            <a:ext cx="603504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C6A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97280" y="44805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Extension:  250 ÷ 25.  What would you divide by first?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4480560"/>
            <a:ext cx="3840480" cy="3840480"/>
          </a:xfrm>
          <a:prstGeom prst="ellipse">
            <a:avLst/>
          </a:prstGeom>
          <a:solidFill>
            <a:srgbClr val="F5B7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05840" y="-1280160"/>
            <a:ext cx="3108960" cy="3108960"/>
          </a:xfrm>
          <a:prstGeom prst="ellipse">
            <a:avLst/>
          </a:prstGeom>
          <a:solidFill>
            <a:srgbClr val="F5B7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problem, two ways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and your partner do the SAME question — with DIFFERENT strategies.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85800" y="2377440"/>
            <a:ext cx="8229600" cy="1371600"/>
          </a:xfrm>
          <a:prstGeom prst="roundRect">
            <a:avLst>
              <a:gd name="adj" fmla="val 9333"/>
            </a:avLst>
          </a:prstGeom>
          <a:solidFill>
            <a:srgbClr val="FEF6E0"/>
          </a:solidFill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rot="10800000">
            <a:off x="1371600" y="3721608"/>
            <a:ext cx="502920" cy="365760"/>
          </a:xfrm>
          <a:prstGeom prst="triangle">
            <a:avLst/>
          </a:prstGeom>
          <a:solidFill>
            <a:srgbClr val="FEF6E0"/>
          </a:solidFill>
          <a:ln w="2540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89888" y="3666744"/>
            <a:ext cx="466344" cy="91440"/>
          </a:xfrm>
          <a:prstGeom prst="rect">
            <a:avLst/>
          </a:prstGeom>
          <a:solidFill>
            <a:srgbClr val="FEF6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78408" y="2377440"/>
            <a:ext cx="7644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you argue about which one was better. Politely. Ish.</a:t>
            </a:r>
            <a:endParaRPr lang="en-US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4480560"/>
            <a:ext cx="3840480" cy="3840480"/>
          </a:xfrm>
          <a:prstGeom prst="ellipse">
            <a:avLst/>
          </a:prstGeom>
          <a:solidFill>
            <a:srgbClr val="F5B7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05840" y="-1280160"/>
            <a:ext cx="3108960" cy="3108960"/>
          </a:xfrm>
          <a:prstGeom prst="ellipse">
            <a:avLst/>
          </a:prstGeom>
          <a:solidFill>
            <a:srgbClr val="F5B7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problem, two ways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and your partner do the SAME question — with DIFFERENT strategies.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3703320" cy="2194560"/>
          </a:xfrm>
          <a:prstGeom prst="roundRect">
            <a:avLst>
              <a:gd name="adj" fmla="val 5000"/>
            </a:avLst>
          </a:prstGeom>
          <a:solidFill>
            <a:srgbClr val="FDEDE7"/>
          </a:solidFill>
          <a:ln w="3175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60120" y="22402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6060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Sharing and regrouping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383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Bubbles. Deal in handfuls you know.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09160" y="2011680"/>
            <a:ext cx="3703320" cy="2194560"/>
          </a:xfrm>
          <a:prstGeom prst="roundRect">
            <a:avLst>
              <a:gd name="adj" fmla="val 5000"/>
            </a:avLst>
          </a:prstGeom>
          <a:solidFill>
            <a:srgbClr val="E1F2F0"/>
          </a:solidFill>
          <a:ln w="3175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983480" y="22402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B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26060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Known products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3383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table. Write the 10 row first.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732520" y="2011680"/>
            <a:ext cx="2926080" cy="2194560"/>
          </a:xfrm>
          <a:prstGeom prst="roundRect">
            <a:avLst>
              <a:gd name="adj" fmla="val 5000"/>
            </a:avLst>
          </a:prstGeom>
          <a:solidFill>
            <a:srgbClr val="1D35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006840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THEN, TOGETHER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26060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way was quicker for THIS one — and why?</a:t>
            </a:r>
            <a:endParaRPr lang="en-US" sz="17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4480560"/>
            <a:ext cx="3840480" cy="3840480"/>
          </a:xfrm>
          <a:prstGeom prst="ellipse">
            <a:avLst/>
          </a:prstGeom>
          <a:solidFill>
            <a:srgbClr val="F5B7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05840" y="-1280160"/>
            <a:ext cx="3108960" cy="3108960"/>
          </a:xfrm>
          <a:prstGeom prst="ellipse">
            <a:avLst/>
          </a:prstGeom>
          <a:solidFill>
            <a:srgbClr val="F5B7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problem, two ways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and your partner do the SAME question — with DIFFERENT strategies.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3703320" cy="2194560"/>
          </a:xfrm>
          <a:prstGeom prst="roundRect">
            <a:avLst>
              <a:gd name="adj" fmla="val 5000"/>
            </a:avLst>
          </a:prstGeom>
          <a:solidFill>
            <a:srgbClr val="FDEDE7"/>
          </a:solidFill>
          <a:ln w="3175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60120" y="22402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6060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Sharing and regrouping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383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Bubbles. Deal in handfuls you know.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09160" y="2011680"/>
            <a:ext cx="3703320" cy="2194560"/>
          </a:xfrm>
          <a:prstGeom prst="roundRect">
            <a:avLst>
              <a:gd name="adj" fmla="val 5000"/>
            </a:avLst>
          </a:prstGeom>
          <a:solidFill>
            <a:srgbClr val="E1F2F0"/>
          </a:solidFill>
          <a:ln w="31750">
            <a:solidFill>
              <a:srgbClr val="12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983480" y="22402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B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26060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Known products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3383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table. Write the 10 row first.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732520" y="2011680"/>
            <a:ext cx="2926080" cy="2194560"/>
          </a:xfrm>
          <a:prstGeom prst="roundRect">
            <a:avLst>
              <a:gd name="adj" fmla="val 5000"/>
            </a:avLst>
          </a:prstGeom>
          <a:solidFill>
            <a:srgbClr val="1D35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006840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THEN, TOGETHER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26060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way was quicker for THIS one — and why?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85800" y="4526280"/>
            <a:ext cx="3383280" cy="1234440"/>
          </a:xfrm>
          <a:prstGeom prst="roundRect">
            <a:avLst>
              <a:gd name="adj" fmla="val 8889"/>
            </a:avLst>
          </a:prstGeom>
          <a:solidFill>
            <a:srgbClr val="F3F6F8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41832" y="4663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49560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96 ÷ 4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4389120" y="4526280"/>
            <a:ext cx="3383280" cy="1234440"/>
          </a:xfrm>
          <a:prstGeom prst="roundRect">
            <a:avLst>
              <a:gd name="adj" fmla="val 8889"/>
            </a:avLst>
          </a:prstGeom>
          <a:solidFill>
            <a:srgbClr val="F3F6F8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645152" y="4663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645152" y="49560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168 ÷ 8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8092440" y="4526280"/>
            <a:ext cx="3383280" cy="1234440"/>
          </a:xfrm>
          <a:prstGeom prst="roundRect">
            <a:avLst>
              <a:gd name="adj" fmla="val 8889"/>
            </a:avLst>
          </a:prstGeom>
          <a:solidFill>
            <a:srgbClr val="F3F6F8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8348472" y="4663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348472" y="49560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245 ÷ 5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897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over each round.   Challenge on page 3:  288 ÷ 12 — how far do bubbles get you?</a:t>
            </a:r>
            <a:endParaRPr lang="en-US" sz="1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389120" cy="4389120"/>
          </a:xfrm>
          <a:prstGeom prst="ellipse">
            <a:avLst/>
          </a:prstGeom>
          <a:solidFill>
            <a:srgbClr val="12877F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89920" y="4754880"/>
            <a:ext cx="2926080" cy="2926080"/>
          </a:xfrm>
          <a:prstGeom prst="ellipse">
            <a:avLst/>
          </a:prstGeom>
          <a:solidFill>
            <a:srgbClr val="F5B700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 ONE?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243 ÷ 12</a:t>
            </a:r>
            <a:endParaRPr lang="en-US" sz="6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546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7C9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 said “about 20”. Now find it exactly.</a:t>
            </a:r>
            <a:endParaRPr lang="en-US" sz="2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389120" cy="4389120"/>
          </a:xfrm>
          <a:prstGeom prst="ellipse">
            <a:avLst/>
          </a:prstGeom>
          <a:solidFill>
            <a:srgbClr val="12877F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89920" y="4754880"/>
            <a:ext cx="2926080" cy="2926080"/>
          </a:xfrm>
          <a:prstGeom prst="ellipse">
            <a:avLst/>
          </a:prstGeom>
          <a:solidFill>
            <a:srgbClr val="F5B700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 ONE?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243 ÷ 12</a:t>
            </a:r>
            <a:endParaRPr lang="en-US" sz="6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546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7C9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 said “about 20”. Now find it exactly.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406640" y="178308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FFFFFF">
              <a:alpha val="9000"/>
            </a:srgbClr>
          </a:solidFill>
          <a:ln w="19050">
            <a:solidFill>
              <a:srgbClr val="4862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2668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× 12 table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24688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→ 120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→ 240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is left?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3 enough for a whole group?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B7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the answer isn't a whole number. That's not a mistake — that's next lesson.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737360"/>
            <a:ext cx="4572000" cy="4572000"/>
          </a:xfrm>
          <a:prstGeom prst="ellipse">
            <a:avLst/>
          </a:prstGeom>
          <a:solidFill>
            <a:srgbClr val="F5B7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47120" y="5394960"/>
            <a:ext cx="2926080" cy="2926080"/>
          </a:xfrm>
          <a:prstGeom prst="ellipse">
            <a:avLst/>
          </a:prstGeom>
          <a:solidFill>
            <a:srgbClr val="F5B700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58368" y="25603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Exit ticket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5394960" cy="3566160"/>
          </a:xfrm>
          <a:prstGeom prst="roundRect">
            <a:avLst>
              <a:gd name="adj" fmla="val 3590"/>
            </a:avLst>
          </a:prstGeom>
          <a:solidFill>
            <a:srgbClr val="F3F6F8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058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B7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377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D35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290 ÷ 6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291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C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your working. Then check it backwards.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0" y="1600200"/>
            <a:ext cx="5257800" cy="3566160"/>
          </a:xfrm>
          <a:prstGeom prst="roundRect">
            <a:avLst>
              <a:gd name="adj" fmla="val 3590"/>
            </a:avLst>
          </a:prstGeom>
          <a:solidFill>
            <a:srgbClr val="1D35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6751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B7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37744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strategy did you pick, and why that one?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9776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7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“Because it was quick” is not enough. Quick compared to what?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603dfd7-d93a-4381-a340-2995d8282205}" enabled="1" method="Standard" siteId="{05a0e69a-418a-47c1-9c25-9387261bf9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3481</Words>
  <Application>Microsoft Macintosh PowerPoint</Application>
  <PresentationFormat>Widescreen</PresentationFormat>
  <Paragraphs>549</Paragraphs>
  <Slides>49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Arial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Division Strategies - Stage 3, Term 3 Week 8</dc:title>
  <dc:subject>PptxGenJS Presentation</dc:subject>
  <dc:creator>Jeff Mills</dc:creator>
  <cp:lastModifiedBy>Jeff Mills (Jeff Mills)</cp:lastModifiedBy>
  <cp:revision>2</cp:revision>
  <dcterms:created xsi:type="dcterms:W3CDTF">2026-09-05T23:28:17Z</dcterms:created>
  <dcterms:modified xsi:type="dcterms:W3CDTF">2026-09-07T06:39:54Z</dcterms:modified>
</cp:coreProperties>
</file>